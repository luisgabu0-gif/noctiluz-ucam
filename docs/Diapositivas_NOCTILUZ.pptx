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Luis (diapositivas 1 y 2, ≈1:45). Guion completo en docs/Guion_defensa.md. Presentar el caso en 30-40 s: qué vende NOCTILUZ, los tres criterios del catálogo y por qué el modo es una regla de negocio (no todas las prendas lo admiten). Decir quién ha hecho qué (debe coincidir con los commits). Cada integrante debe hablar un tiempo parecido.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Explicar las cuatro capas y por qué el precio, el IVA y el stock se calculan siempre en el servidor. Recorrer el flujo de izquierda a derecha nombrando el evento de cada paso. Estados del pedido: creado → pagado → en_preparacion → enviado → entregado (+ incidencia, cancelado).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Hablan: Roberto (pasos 1-2, ≈0:45), Javier (pasos 3-5, ≈1:15) y JunJie (pasos 6-7, ≈0:45). Hacer la demo en la URL pública, no en local. Tener abiertas dos pestañas: tienda y back-office. Tras cada paso, refrescar la pestaña Eventos del back-office para enseñar que el evento aparece. Plan B si falla la red: vídeo corto grabado de antemano.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JunJie (≈0:45). Enseñar en phpMyAdmin las tablas pedidos, lineas_pedido, pagos, historial_estados y eventos con el pedido de la demo. Descargar el CSV de eventos. Explicar cómo lo consumiría otro sistema en la Tarea 2: pide GET eventos.php?desde_id=N y guarda el último id leído.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Luis (diapositivas 5 y 6, ≈1:15). Ser honestos con el uso de IA: qué hizo la IA, qué errores se le detectaron y cómo se validó. Preparar la respuesta a "¿por qué no WooCommerce?" y "¿qué pasa si dos personas compran la última unidad a la vez?" (UPDATE … WHERE stock &gt;= cantidad dentro de la transacción).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Cerrar en menos de 30 s. Tener preparado quién responde a cada tipo de pregunta (interfaz, API, base de datos, eventos), aunque cualquiera puede ser preguntado por cualquier parte.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0A0C"/>
        </a:solidFill>
      </p:bgPr>
    </p:bg>
    <p:spTree>
      <p:nvGrpSpPr>
        <p:cNvPr id="1" name=""/>
        <p:cNvGrpSpPr/>
        <p:nvPr/>
      </p:nvGrpSpPr>
      <p:grpSpPr>
        <a:xfrm>
          <a:off x="0" y="0"/>
          <a:ext cx="0" cy="0"/>
          <a:chOff x="0" y="0"/>
          <a:chExt cx="0" cy="0"/>
        </a:xfrm>
      </p:grpSpPr>
      <p:sp>
        <p:nvSpPr>
          <p:cNvPr id="2" name="Shape 0"/>
          <p:cNvSpPr/>
          <p:nvPr/>
        </p:nvSpPr>
        <p:spPr>
          <a:xfrm>
            <a:off x="502920" y="566928"/>
            <a:ext cx="109728" cy="109728"/>
          </a:xfrm>
          <a:prstGeom prst="ellipse">
            <a:avLst/>
          </a:prstGeom>
          <a:solidFill>
            <a:srgbClr val="55DCD4"/>
          </a:solidFill>
          <a:ln w="12700">
            <a:solidFill>
              <a:srgbClr val="55DCD4"/>
            </a:solidFill>
            <a:prstDash val="solid"/>
          </a:ln>
        </p:spPr>
      </p:sp>
      <p:sp>
        <p:nvSpPr>
          <p:cNvPr id="3" name="Text 1"/>
          <p:cNvSpPr/>
          <p:nvPr/>
        </p:nvSpPr>
        <p:spPr>
          <a:xfrm>
            <a:off x="685800" y="457200"/>
            <a:ext cx="2743200" cy="320040"/>
          </a:xfrm>
          <a:prstGeom prst="rect">
            <a:avLst/>
          </a:prstGeom>
          <a:noFill/>
          <a:ln/>
        </p:spPr>
        <p:txBody>
          <a:bodyPr wrap="square" rtlCol="0" anchor="ctr"/>
          <a:lstStyle/>
          <a:p>
            <a:pPr indent="0" marL="0">
              <a:buNone/>
            </a:pPr>
            <a:r>
              <a:rPr lang="en-US" sz="1200" b="1" spc="200" kern="0" dirty="0">
                <a:solidFill>
                  <a:srgbClr val="A3A2A9"/>
                </a:solidFill>
                <a:latin typeface="Segoe UI" pitchFamily="34" charset="0"/>
                <a:ea typeface="Segoe UI" pitchFamily="34" charset="-122"/>
                <a:cs typeface="Segoe UI" pitchFamily="34" charset="-120"/>
              </a:rPr>
              <a:t>NOCTILUZ</a:t>
            </a:r>
            <a:endParaRPr lang="en-US" sz="1200" dirty="0"/>
          </a:p>
        </p:txBody>
      </p:sp>
      <p:sp>
        <p:nvSpPr>
          <p:cNvPr id="4" name="Text 2"/>
          <p:cNvSpPr/>
          <p:nvPr/>
        </p:nvSpPr>
        <p:spPr>
          <a:xfrm>
            <a:off x="10332720" y="457200"/>
            <a:ext cx="1371600" cy="320040"/>
          </a:xfrm>
          <a:prstGeom prst="rect">
            <a:avLst/>
          </a:prstGeom>
          <a:noFill/>
          <a:ln/>
        </p:spPr>
        <p:txBody>
          <a:bodyPr wrap="square" rtlCol="0" anchor="ctr"/>
          <a:lstStyle/>
          <a:p>
            <a:pPr algn="r" indent="0" marL="0">
              <a:buNone/>
            </a:pPr>
            <a:r>
              <a:rPr lang="en-US" sz="1100" dirty="0">
                <a:solidFill>
                  <a:srgbClr val="A3A2A9"/>
                </a:solidFill>
                <a:latin typeface="Segoe UI" pitchFamily="34" charset="0"/>
                <a:ea typeface="Segoe UI" pitchFamily="34" charset="-122"/>
                <a:cs typeface="Segoe UI" pitchFamily="34" charset="-120"/>
              </a:rPr>
              <a:t>1 / 6</a:t>
            </a:r>
            <a:endParaRPr lang="en-US" sz="1100" dirty="0"/>
          </a:p>
        </p:txBody>
      </p:sp>
      <p:sp>
        <p:nvSpPr>
          <p:cNvPr id="5" name="Text 3"/>
          <p:cNvSpPr/>
          <p:nvPr/>
        </p:nvSpPr>
        <p:spPr>
          <a:xfrm>
            <a:off x="502920" y="6400800"/>
            <a:ext cx="7315200" cy="274320"/>
          </a:xfrm>
          <a:prstGeom prst="rect">
            <a:avLst/>
          </a:prstGeom>
          <a:noFill/>
          <a:ln/>
        </p:spPr>
        <p:txBody>
          <a:bodyPr wrap="square" rtlCol="0" anchor="ctr"/>
          <a:lstStyle/>
          <a:p>
            <a:pPr indent="0" marL="0">
              <a:buNone/>
            </a:pPr>
            <a:r>
              <a:rPr lang="en-US" sz="900" dirty="0">
                <a:solidFill>
                  <a:srgbClr val="6E6E75"/>
                </a:solidFill>
                <a:latin typeface="Segoe UI" pitchFamily="34" charset="0"/>
                <a:ea typeface="Segoe UI" pitchFamily="34" charset="-122"/>
                <a:cs typeface="Segoe UI" pitchFamily="34" charset="-120"/>
              </a:rPr>
              <a:t>Prototipo académico UCAM · sin actividad comercial real</a:t>
            </a:r>
            <a:endParaRPr lang="en-US" sz="900" dirty="0"/>
          </a:p>
        </p:txBody>
      </p:sp>
      <p:sp>
        <p:nvSpPr>
          <p:cNvPr id="6" name="Text 4"/>
          <p:cNvSpPr/>
          <p:nvPr/>
        </p:nvSpPr>
        <p:spPr>
          <a:xfrm>
            <a:off x="502920" y="1005840"/>
            <a:ext cx="6400800" cy="822960"/>
          </a:xfrm>
          <a:prstGeom prst="rect">
            <a:avLst/>
          </a:prstGeom>
          <a:noFill/>
          <a:ln/>
        </p:spPr>
        <p:txBody>
          <a:bodyPr wrap="square" rtlCol="0" anchor="ctr"/>
          <a:lstStyle/>
          <a:p>
            <a:pPr indent="0" marL="0">
              <a:buNone/>
            </a:pPr>
            <a:r>
              <a:rPr lang="en-US" sz="4000" b="1" dirty="0">
                <a:solidFill>
                  <a:srgbClr val="F3F2EF"/>
                </a:solidFill>
                <a:latin typeface="Segoe UI" pitchFamily="34" charset="0"/>
                <a:ea typeface="Segoe UI" pitchFamily="34" charset="-122"/>
                <a:cs typeface="Segoe UI" pitchFamily="34" charset="-120"/>
              </a:rPr>
              <a:t>Ilumina la noche.</a:t>
            </a:r>
            <a:endParaRPr lang="en-US" sz="4000" dirty="0"/>
          </a:p>
        </p:txBody>
      </p:sp>
      <p:sp>
        <p:nvSpPr>
          <p:cNvPr id="7" name="Text 5"/>
          <p:cNvSpPr/>
          <p:nvPr/>
        </p:nvSpPr>
        <p:spPr>
          <a:xfrm>
            <a:off x="502920" y="1783080"/>
            <a:ext cx="6400800" cy="548640"/>
          </a:xfrm>
          <a:prstGeom prst="rect">
            <a:avLst/>
          </a:prstGeom>
          <a:noFill/>
          <a:ln/>
        </p:spPr>
        <p:txBody>
          <a:bodyPr wrap="square" rtlCol="0" anchor="ctr"/>
          <a:lstStyle/>
          <a:p>
            <a:pPr indent="0" marL="0">
              <a:buNone/>
            </a:pPr>
            <a:r>
              <a:rPr lang="en-US" sz="1600" dirty="0">
                <a:solidFill>
                  <a:srgbClr val="A3A2A9"/>
                </a:solidFill>
                <a:latin typeface="Segoe UI" pitchFamily="34" charset="0"/>
                <a:ea typeface="Segoe UI" pitchFamily="34" charset="-122"/>
                <a:cs typeface="Segoe UI" pitchFamily="34" charset="-120"/>
              </a:rPr>
              <a:t>Canal digital de venta instrumentado para una tienda de moda luminosa urbana</a:t>
            </a:r>
            <a:endParaRPr lang="en-US" sz="1600" dirty="0"/>
          </a:p>
        </p:txBody>
      </p:sp>
      <p:sp>
        <p:nvSpPr>
          <p:cNvPr id="8" name="Shape 6"/>
          <p:cNvSpPr/>
          <p:nvPr/>
        </p:nvSpPr>
        <p:spPr>
          <a:xfrm>
            <a:off x="502920" y="2560320"/>
            <a:ext cx="6035040" cy="3566160"/>
          </a:xfrm>
          <a:prstGeom prst="rect">
            <a:avLst/>
          </a:prstGeom>
          <a:solidFill>
            <a:srgbClr val="161719"/>
          </a:solidFill>
          <a:ln w="12700">
            <a:solidFill>
              <a:srgbClr val="2A2B31"/>
            </a:solidFill>
            <a:prstDash val="solid"/>
          </a:ln>
        </p:spPr>
      </p:sp>
      <p:sp>
        <p:nvSpPr>
          <p:cNvPr id="9" name="Shape 7"/>
          <p:cNvSpPr/>
          <p:nvPr/>
        </p:nvSpPr>
        <p:spPr>
          <a:xfrm>
            <a:off x="502920" y="2560320"/>
            <a:ext cx="54864" cy="3566160"/>
          </a:xfrm>
          <a:prstGeom prst="rect">
            <a:avLst/>
          </a:prstGeom>
          <a:solidFill>
            <a:srgbClr val="55DCD4"/>
          </a:solidFill>
          <a:ln w="12700">
            <a:solidFill>
              <a:srgbClr val="55DCD4"/>
            </a:solidFill>
            <a:prstDash val="solid"/>
          </a:ln>
        </p:spPr>
      </p:sp>
      <p:sp>
        <p:nvSpPr>
          <p:cNvPr id="10" name="Text 8"/>
          <p:cNvSpPr/>
          <p:nvPr/>
        </p:nvSpPr>
        <p:spPr>
          <a:xfrm>
            <a:off x="704088" y="2670048"/>
            <a:ext cx="5715000" cy="411480"/>
          </a:xfrm>
          <a:prstGeom prst="rect">
            <a:avLst/>
          </a:prstGeom>
          <a:noFill/>
          <a:ln/>
        </p:spPr>
        <p:txBody>
          <a:bodyPr wrap="square" rtlCol="0" anchor="ctr"/>
          <a:lstStyle/>
          <a:p>
            <a:pPr indent="0" marL="0">
              <a:buNone/>
            </a:pPr>
            <a:r>
              <a:rPr lang="en-US" sz="1500" b="1" dirty="0">
                <a:solidFill>
                  <a:srgbClr val="55DCD4"/>
                </a:solidFill>
                <a:latin typeface="Segoe UI" pitchFamily="34" charset="0"/>
                <a:ea typeface="Segoe UI" pitchFamily="34" charset="-122"/>
                <a:cs typeface="Segoe UI" pitchFamily="34" charset="-120"/>
              </a:rPr>
              <a:t>Caso y objetivo</a:t>
            </a:r>
            <a:endParaRPr lang="en-US" sz="1500" dirty="0"/>
          </a:p>
        </p:txBody>
      </p:sp>
      <p:sp>
        <p:nvSpPr>
          <p:cNvPr id="11" name="Text 9"/>
          <p:cNvSpPr/>
          <p:nvPr/>
        </p:nvSpPr>
        <p:spPr>
          <a:xfrm>
            <a:off x="704088" y="3108960"/>
            <a:ext cx="5669280" cy="2880360"/>
          </a:xfrm>
          <a:prstGeom prst="rect">
            <a:avLst/>
          </a:prstGeom>
          <a:noFill/>
          <a:ln/>
        </p:spPr>
        <p:txBody>
          <a:bodyPr wrap="square" rtlCol="0" anchor="t"/>
          <a:lstStyle/>
          <a:p>
            <a:pPr marL="177800" indent="-177800">
              <a:spcAft>
                <a:spcPts val="500"/>
              </a:spcAft>
              <a:buSzPct val="100000"/>
              <a:buChar char="•"/>
            </a:pPr>
            <a:r>
              <a:rPr lang="en-US" sz="1300" dirty="0">
                <a:solidFill>
                  <a:srgbClr val="F3F2EF"/>
                </a:solidFill>
                <a:latin typeface="Segoe UI" pitchFamily="34" charset="0"/>
                <a:ea typeface="Segoe UI" pitchFamily="34" charset="-122"/>
                <a:cs typeface="Segoe UI" pitchFamily="34" charset="-120"/>
              </a:rPr>
              <a:t>Moda urbana con LED y fibra óptica: camisetas, chaquetas, mochilas y gorras</a:t>
            </a:r>
            <a:endParaRPr lang="en-US" sz="1300" dirty="0"/>
          </a:p>
          <a:p>
            <a:pPr marL="177800" indent="-177800">
              <a:spcAft>
                <a:spcPts val="500"/>
              </a:spcAft>
              <a:buSzPct val="100000"/>
              <a:buChar char="•"/>
            </a:pPr>
            <a:r>
              <a:rPr lang="en-US" sz="1300" dirty="0">
                <a:solidFill>
                  <a:srgbClr val="F3F2EF"/>
                </a:solidFill>
                <a:latin typeface="Segoe UI" pitchFamily="34" charset="0"/>
                <a:ea typeface="Segoe UI" pitchFamily="34" charset="-122"/>
                <a:cs typeface="Segoe UI" pitchFamily="34" charset="-120"/>
              </a:rPr>
              <a:t>Catálogo por tipo de prenda, color de luz y modo (fijo, parpadeo, degradado)</a:t>
            </a:r>
            <a:endParaRPr lang="en-US" sz="1300" dirty="0"/>
          </a:p>
          <a:p>
            <a:pPr marL="177800" indent="-177800">
              <a:spcAft>
                <a:spcPts val="500"/>
              </a:spcAft>
              <a:buSzPct val="100000"/>
              <a:buChar char="•"/>
            </a:pPr>
            <a:r>
              <a:rPr lang="en-US" sz="1300" dirty="0">
                <a:solidFill>
                  <a:srgbClr val="F3F2EF"/>
                </a:solidFill>
                <a:latin typeface="Segoe UI" pitchFamily="34" charset="0"/>
                <a:ea typeface="Segoe UI" pitchFamily="34" charset="-122"/>
                <a:cs typeface="Segoe UI" pitchFamily="34" charset="-120"/>
              </a:rPr>
              <a:t>8 modelos · 16 variantes · cada modelo admite solo ciertos modos</a:t>
            </a:r>
            <a:endParaRPr lang="en-US" sz="1300" dirty="0"/>
          </a:p>
          <a:p>
            <a:pPr marL="177800" indent="-177800">
              <a:spcAft>
                <a:spcPts val="500"/>
              </a:spcAft>
              <a:buSzPct val="100000"/>
              <a:buChar char="•"/>
            </a:pPr>
            <a:r>
              <a:rPr lang="en-US" sz="1300" dirty="0">
                <a:solidFill>
                  <a:srgbClr val="F3F2EF"/>
                </a:solidFill>
                <a:latin typeface="Segoe UI" pitchFamily="34" charset="0"/>
                <a:ea typeface="Segoe UI" pitchFamily="34" charset="-122"/>
                <a:cs typeface="Segoe UI" pitchFamily="34" charset="-120"/>
              </a:rPr>
              <a:t>Objetivo: flujo de compra completo que genere datos y eventos reutilizables por otros sistemas</a:t>
            </a:r>
            <a:endParaRPr lang="en-US" sz="1300" dirty="0"/>
          </a:p>
        </p:txBody>
      </p:sp>
      <p:sp>
        <p:nvSpPr>
          <p:cNvPr id="12" name="Shape 10"/>
          <p:cNvSpPr/>
          <p:nvPr/>
        </p:nvSpPr>
        <p:spPr>
          <a:xfrm>
            <a:off x="6812280" y="1005840"/>
            <a:ext cx="4846320" cy="5120640"/>
          </a:xfrm>
          <a:prstGeom prst="rect">
            <a:avLst/>
          </a:prstGeom>
          <a:solidFill>
            <a:srgbClr val="161719"/>
          </a:solidFill>
          <a:ln w="12700">
            <a:solidFill>
              <a:srgbClr val="2A2B31"/>
            </a:solidFill>
            <a:prstDash val="solid"/>
          </a:ln>
        </p:spPr>
      </p:sp>
      <p:sp>
        <p:nvSpPr>
          <p:cNvPr id="13" name="Shape 11"/>
          <p:cNvSpPr/>
          <p:nvPr/>
        </p:nvSpPr>
        <p:spPr>
          <a:xfrm>
            <a:off x="6812280" y="1005840"/>
            <a:ext cx="54864" cy="5120640"/>
          </a:xfrm>
          <a:prstGeom prst="rect">
            <a:avLst/>
          </a:prstGeom>
          <a:solidFill>
            <a:srgbClr val="A594F2"/>
          </a:solidFill>
          <a:ln w="12700">
            <a:solidFill>
              <a:srgbClr val="A594F2"/>
            </a:solidFill>
            <a:prstDash val="solid"/>
          </a:ln>
        </p:spPr>
      </p:sp>
      <p:sp>
        <p:nvSpPr>
          <p:cNvPr id="14" name="Text 12"/>
          <p:cNvSpPr/>
          <p:nvPr/>
        </p:nvSpPr>
        <p:spPr>
          <a:xfrm>
            <a:off x="7013448" y="1115568"/>
            <a:ext cx="4526280" cy="411480"/>
          </a:xfrm>
          <a:prstGeom prst="rect">
            <a:avLst/>
          </a:prstGeom>
          <a:noFill/>
          <a:ln/>
        </p:spPr>
        <p:txBody>
          <a:bodyPr wrap="square" rtlCol="0" anchor="ctr"/>
          <a:lstStyle/>
          <a:p>
            <a:pPr indent="0" marL="0">
              <a:buNone/>
            </a:pPr>
            <a:r>
              <a:rPr lang="en-US" sz="1500" b="1" dirty="0">
                <a:solidFill>
                  <a:srgbClr val="A594F2"/>
                </a:solidFill>
                <a:latin typeface="Segoe UI" pitchFamily="34" charset="0"/>
                <a:ea typeface="Segoe UI" pitchFamily="34" charset="-122"/>
                <a:cs typeface="Segoe UI" pitchFamily="34" charset="-120"/>
              </a:rPr>
              <a:t>Reparto de responsabilidades</a:t>
            </a:r>
            <a:endParaRPr lang="en-US" sz="1500" dirty="0"/>
          </a:p>
        </p:txBody>
      </p:sp>
      <p:sp>
        <p:nvSpPr>
          <p:cNvPr id="15" name="Text 13"/>
          <p:cNvSpPr/>
          <p:nvPr/>
        </p:nvSpPr>
        <p:spPr>
          <a:xfrm>
            <a:off x="7013448" y="1554480"/>
            <a:ext cx="4480560" cy="4434840"/>
          </a:xfrm>
          <a:prstGeom prst="rect">
            <a:avLst/>
          </a:prstGeom>
          <a:noFill/>
          <a:ln/>
        </p:spPr>
        <p:txBody>
          <a:bodyPr wrap="square" rtlCol="0" anchor="t"/>
          <a:lstStyle/>
          <a:p>
            <a:pPr marL="177800" indent="-177800">
              <a:spcAft>
                <a:spcPts val="500"/>
              </a:spcAft>
              <a:buSzPct val="100000"/>
              <a:buChar char="•"/>
            </a:pPr>
            <a:r>
              <a:rPr lang="en-US" sz="1400" dirty="0">
                <a:solidFill>
                  <a:srgbClr val="F3F2EF"/>
                </a:solidFill>
                <a:latin typeface="Segoe UI" pitchFamily="34" charset="0"/>
                <a:ea typeface="Segoe UI" pitchFamily="34" charset="-122"/>
                <a:cs typeface="Segoe UI" pitchFamily="34" charset="-120"/>
              </a:rPr>
              <a:t>Luis Galindo Buendia — [COMPLETAR]</a:t>
            </a:r>
            <a:endParaRPr lang="en-US" sz="1400" dirty="0"/>
          </a:p>
          <a:p>
            <a:pPr marL="177800" indent="-177800">
              <a:spcAft>
                <a:spcPts val="500"/>
              </a:spcAft>
              <a:buSzPct val="100000"/>
              <a:buChar char="•"/>
            </a:pPr>
            <a:r>
              <a:rPr lang="en-US" sz="1400" dirty="0">
                <a:solidFill>
                  <a:srgbClr val="F3F2EF"/>
                </a:solidFill>
                <a:latin typeface="Segoe UI" pitchFamily="34" charset="0"/>
                <a:ea typeface="Segoe UI" pitchFamily="34" charset="-122"/>
                <a:cs typeface="Segoe UI" pitchFamily="34" charset="-120"/>
              </a:rPr>
              <a:t>Roberto Ciller Miñana — [COMPLETAR]</a:t>
            </a:r>
            <a:endParaRPr lang="en-US" sz="1400" dirty="0"/>
          </a:p>
          <a:p>
            <a:pPr marL="177800" indent="-177800">
              <a:spcAft>
                <a:spcPts val="500"/>
              </a:spcAft>
              <a:buSzPct val="100000"/>
              <a:buChar char="•"/>
            </a:pPr>
            <a:r>
              <a:rPr lang="en-US" sz="1400" dirty="0">
                <a:solidFill>
                  <a:srgbClr val="F3F2EF"/>
                </a:solidFill>
                <a:latin typeface="Segoe UI" pitchFamily="34" charset="0"/>
                <a:ea typeface="Segoe UI" pitchFamily="34" charset="-122"/>
                <a:cs typeface="Segoe UI" pitchFamily="34" charset="-120"/>
              </a:rPr>
              <a:t>Javier Zamora Lopez — [COMPLETAR]</a:t>
            </a:r>
            <a:endParaRPr lang="en-US" sz="1400" dirty="0"/>
          </a:p>
          <a:p>
            <a:pPr marL="177800" indent="-177800">
              <a:spcAft>
                <a:spcPts val="500"/>
              </a:spcAft>
              <a:buSzPct val="100000"/>
              <a:buChar char="•"/>
            </a:pPr>
            <a:r>
              <a:rPr lang="en-US" sz="1400" dirty="0">
                <a:solidFill>
                  <a:srgbClr val="F3F2EF"/>
                </a:solidFill>
                <a:latin typeface="Segoe UI" pitchFamily="34" charset="0"/>
                <a:ea typeface="Segoe UI" pitchFamily="34" charset="-122"/>
                <a:cs typeface="Segoe UI" pitchFamily="34" charset="-120"/>
              </a:rPr>
              <a:t>JunJie Yang Jao — [COMPLETAR]</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A0A0C"/>
        </a:solidFill>
      </p:bgPr>
    </p:bg>
    <p:spTree>
      <p:nvGrpSpPr>
        <p:cNvPr id="1" name=""/>
        <p:cNvGrpSpPr/>
        <p:nvPr/>
      </p:nvGrpSpPr>
      <p:grpSpPr>
        <a:xfrm>
          <a:off x="0" y="0"/>
          <a:ext cx="0" cy="0"/>
          <a:chOff x="0" y="0"/>
          <a:chExt cx="0" cy="0"/>
        </a:xfrm>
      </p:grpSpPr>
      <p:sp>
        <p:nvSpPr>
          <p:cNvPr id="2" name="Shape 0"/>
          <p:cNvSpPr/>
          <p:nvPr/>
        </p:nvSpPr>
        <p:spPr>
          <a:xfrm>
            <a:off x="502920" y="566928"/>
            <a:ext cx="109728" cy="109728"/>
          </a:xfrm>
          <a:prstGeom prst="ellipse">
            <a:avLst/>
          </a:prstGeom>
          <a:solidFill>
            <a:srgbClr val="55DCD4"/>
          </a:solidFill>
          <a:ln w="12700">
            <a:solidFill>
              <a:srgbClr val="55DCD4"/>
            </a:solidFill>
            <a:prstDash val="solid"/>
          </a:ln>
        </p:spPr>
      </p:sp>
      <p:sp>
        <p:nvSpPr>
          <p:cNvPr id="3" name="Text 1"/>
          <p:cNvSpPr/>
          <p:nvPr/>
        </p:nvSpPr>
        <p:spPr>
          <a:xfrm>
            <a:off x="685800" y="457200"/>
            <a:ext cx="2743200" cy="320040"/>
          </a:xfrm>
          <a:prstGeom prst="rect">
            <a:avLst/>
          </a:prstGeom>
          <a:noFill/>
          <a:ln/>
        </p:spPr>
        <p:txBody>
          <a:bodyPr wrap="square" rtlCol="0" anchor="ctr"/>
          <a:lstStyle/>
          <a:p>
            <a:pPr indent="0" marL="0">
              <a:buNone/>
            </a:pPr>
            <a:r>
              <a:rPr lang="en-US" sz="1200" b="1" spc="200" kern="0" dirty="0">
                <a:solidFill>
                  <a:srgbClr val="A3A2A9"/>
                </a:solidFill>
                <a:latin typeface="Segoe UI" pitchFamily="34" charset="0"/>
                <a:ea typeface="Segoe UI" pitchFamily="34" charset="-122"/>
                <a:cs typeface="Segoe UI" pitchFamily="34" charset="-120"/>
              </a:rPr>
              <a:t>NOCTILUZ</a:t>
            </a:r>
            <a:endParaRPr lang="en-US" sz="1200" dirty="0"/>
          </a:p>
        </p:txBody>
      </p:sp>
      <p:sp>
        <p:nvSpPr>
          <p:cNvPr id="4" name="Text 2"/>
          <p:cNvSpPr/>
          <p:nvPr/>
        </p:nvSpPr>
        <p:spPr>
          <a:xfrm>
            <a:off x="10332720" y="457200"/>
            <a:ext cx="1371600" cy="320040"/>
          </a:xfrm>
          <a:prstGeom prst="rect">
            <a:avLst/>
          </a:prstGeom>
          <a:noFill/>
          <a:ln/>
        </p:spPr>
        <p:txBody>
          <a:bodyPr wrap="square" rtlCol="0" anchor="ctr"/>
          <a:lstStyle/>
          <a:p>
            <a:pPr algn="r" indent="0" marL="0">
              <a:buNone/>
            </a:pPr>
            <a:r>
              <a:rPr lang="en-US" sz="1100" dirty="0">
                <a:solidFill>
                  <a:srgbClr val="A3A2A9"/>
                </a:solidFill>
                <a:latin typeface="Segoe UI" pitchFamily="34" charset="0"/>
                <a:ea typeface="Segoe UI" pitchFamily="34" charset="-122"/>
                <a:cs typeface="Segoe UI" pitchFamily="34" charset="-120"/>
              </a:rPr>
              <a:t>2 / 6</a:t>
            </a:r>
            <a:endParaRPr lang="en-US" sz="1100" dirty="0"/>
          </a:p>
        </p:txBody>
      </p:sp>
      <p:sp>
        <p:nvSpPr>
          <p:cNvPr id="5" name="Text 3"/>
          <p:cNvSpPr/>
          <p:nvPr/>
        </p:nvSpPr>
        <p:spPr>
          <a:xfrm>
            <a:off x="502920" y="868680"/>
            <a:ext cx="11155680" cy="731520"/>
          </a:xfrm>
          <a:prstGeom prst="rect">
            <a:avLst/>
          </a:prstGeom>
          <a:noFill/>
          <a:ln/>
        </p:spPr>
        <p:txBody>
          <a:bodyPr wrap="square" rtlCol="0" anchor="ctr"/>
          <a:lstStyle/>
          <a:p>
            <a:pPr indent="0" marL="0">
              <a:buNone/>
            </a:pPr>
            <a:r>
              <a:rPr lang="en-US" sz="3000" b="1" dirty="0">
                <a:solidFill>
                  <a:srgbClr val="F3F2EF"/>
                </a:solidFill>
                <a:latin typeface="Segoe UI" pitchFamily="34" charset="0"/>
                <a:ea typeface="Segoe UI" pitchFamily="34" charset="-122"/>
                <a:cs typeface="Segoe UI" pitchFamily="34" charset="-120"/>
              </a:rPr>
              <a:t>Arquitectura y flujo funcional</a:t>
            </a:r>
            <a:endParaRPr lang="en-US" sz="3000" dirty="0"/>
          </a:p>
        </p:txBody>
      </p:sp>
      <p:sp>
        <p:nvSpPr>
          <p:cNvPr id="6" name="Text 4"/>
          <p:cNvSpPr/>
          <p:nvPr/>
        </p:nvSpPr>
        <p:spPr>
          <a:xfrm>
            <a:off x="502920" y="6400800"/>
            <a:ext cx="7315200" cy="274320"/>
          </a:xfrm>
          <a:prstGeom prst="rect">
            <a:avLst/>
          </a:prstGeom>
          <a:noFill/>
          <a:ln/>
        </p:spPr>
        <p:txBody>
          <a:bodyPr wrap="square" rtlCol="0" anchor="ctr"/>
          <a:lstStyle/>
          <a:p>
            <a:pPr indent="0" marL="0">
              <a:buNone/>
            </a:pPr>
            <a:r>
              <a:rPr lang="en-US" sz="900" dirty="0">
                <a:solidFill>
                  <a:srgbClr val="6E6E75"/>
                </a:solidFill>
                <a:latin typeface="Segoe UI" pitchFamily="34" charset="0"/>
                <a:ea typeface="Segoe UI" pitchFamily="34" charset="-122"/>
                <a:cs typeface="Segoe UI" pitchFamily="34" charset="-120"/>
              </a:rPr>
              <a:t>Prototipo académico UCAM · sin actividad comercial real</a:t>
            </a:r>
            <a:endParaRPr lang="en-US" sz="900" dirty="0"/>
          </a:p>
        </p:txBody>
      </p:sp>
      <p:sp>
        <p:nvSpPr>
          <p:cNvPr id="7" name="Shape 5"/>
          <p:cNvSpPr/>
          <p:nvPr/>
        </p:nvSpPr>
        <p:spPr>
          <a:xfrm>
            <a:off x="502920" y="1783080"/>
            <a:ext cx="2514600" cy="1417320"/>
          </a:xfrm>
          <a:prstGeom prst="rect">
            <a:avLst/>
          </a:prstGeom>
          <a:solidFill>
            <a:srgbClr val="161719"/>
          </a:solidFill>
          <a:ln w="19050">
            <a:solidFill>
              <a:srgbClr val="55DCD4"/>
            </a:solidFill>
            <a:prstDash val="solid"/>
          </a:ln>
        </p:spPr>
      </p:sp>
      <p:sp>
        <p:nvSpPr>
          <p:cNvPr id="8" name="Text 6"/>
          <p:cNvSpPr/>
          <p:nvPr/>
        </p:nvSpPr>
        <p:spPr>
          <a:xfrm>
            <a:off x="640080" y="1847088"/>
            <a:ext cx="2286000" cy="411480"/>
          </a:xfrm>
          <a:prstGeom prst="rect">
            <a:avLst/>
          </a:prstGeom>
          <a:noFill/>
          <a:ln/>
        </p:spPr>
        <p:txBody>
          <a:bodyPr wrap="square" rtlCol="0" anchor="ctr"/>
          <a:lstStyle/>
          <a:p>
            <a:pPr indent="0" marL="0">
              <a:buNone/>
            </a:pPr>
            <a:r>
              <a:rPr lang="en-US" sz="1600" b="1" dirty="0">
                <a:solidFill>
                  <a:srgbClr val="55DCD4"/>
                </a:solidFill>
                <a:latin typeface="Segoe UI" pitchFamily="34" charset="0"/>
                <a:ea typeface="Segoe UI" pitchFamily="34" charset="-122"/>
                <a:cs typeface="Segoe UI" pitchFamily="34" charset="-120"/>
              </a:rPr>
              <a:t>Interfaz</a:t>
            </a:r>
            <a:endParaRPr lang="en-US" sz="1600" dirty="0"/>
          </a:p>
        </p:txBody>
      </p:sp>
      <p:sp>
        <p:nvSpPr>
          <p:cNvPr id="9" name="Text 7"/>
          <p:cNvSpPr/>
          <p:nvPr/>
        </p:nvSpPr>
        <p:spPr>
          <a:xfrm>
            <a:off x="640080" y="2286000"/>
            <a:ext cx="2286000" cy="822960"/>
          </a:xfrm>
          <a:prstGeom prst="rect">
            <a:avLst/>
          </a:prstGeom>
          <a:noFill/>
          <a:ln/>
        </p:spPr>
        <p:txBody>
          <a:bodyPr wrap="square" rtlCol="0" anchor="t"/>
          <a:lstStyle/>
          <a:p>
            <a:pPr indent="0" marL="0">
              <a:buNone/>
            </a:pPr>
            <a:r>
              <a:rPr lang="en-US" sz="1200" dirty="0">
                <a:solidFill>
                  <a:srgbClr val="F3F2EF"/>
                </a:solidFill>
                <a:latin typeface="Segoe UI" pitchFamily="34" charset="0"/>
                <a:ea typeface="Segoe UI" pitchFamily="34" charset="-122"/>
                <a:cs typeface="Segoe UI" pitchFamily="34" charset="-120"/>
              </a:rPr>
              <a:t>index.html · admin.html</a:t>
            </a:r>
            <a:endParaRPr lang="en-US" sz="1200" dirty="0"/>
          </a:p>
          <a:p>
            <a:pPr indent="0" marL="0">
              <a:buNone/>
            </a:pPr>
            <a:r>
              <a:rPr lang="en-US" sz="1200" dirty="0">
                <a:solidFill>
                  <a:srgbClr val="F3F2EF"/>
                </a:solidFill>
                <a:latin typeface="Segoe UI" pitchFamily="34" charset="0"/>
                <a:ea typeface="Segoe UI" pitchFamily="34" charset="-122"/>
                <a:cs typeface="Segoe UI" pitchFamily="34" charset="-120"/>
              </a:rPr>
              <a:t>HTML + CSS + JS nativo</a:t>
            </a:r>
            <a:endParaRPr lang="en-US" sz="1200" dirty="0"/>
          </a:p>
        </p:txBody>
      </p:sp>
      <p:sp>
        <p:nvSpPr>
          <p:cNvPr id="10" name="Text 8"/>
          <p:cNvSpPr/>
          <p:nvPr/>
        </p:nvSpPr>
        <p:spPr>
          <a:xfrm>
            <a:off x="2990088" y="2194560"/>
            <a:ext cx="365760" cy="548640"/>
          </a:xfrm>
          <a:prstGeom prst="rect">
            <a:avLst/>
          </a:prstGeom>
          <a:noFill/>
          <a:ln/>
        </p:spPr>
        <p:txBody>
          <a:bodyPr wrap="square" rtlCol="0" anchor="ctr"/>
          <a:lstStyle/>
          <a:p>
            <a:pPr algn="ctr" indent="0" marL="0">
              <a:buNone/>
            </a:pPr>
            <a:r>
              <a:rPr lang="en-US" sz="2400" dirty="0">
                <a:solidFill>
                  <a:srgbClr val="A3A2A9"/>
                </a:solidFill>
                <a:latin typeface="Segoe UI" pitchFamily="34" charset="0"/>
                <a:ea typeface="Segoe UI" pitchFamily="34" charset="-122"/>
                <a:cs typeface="Segoe UI" pitchFamily="34" charset="-120"/>
              </a:rPr>
              <a:t>→</a:t>
            </a:r>
            <a:endParaRPr lang="en-US" sz="2400" dirty="0"/>
          </a:p>
        </p:txBody>
      </p:sp>
      <p:sp>
        <p:nvSpPr>
          <p:cNvPr id="11" name="Shape 9"/>
          <p:cNvSpPr/>
          <p:nvPr/>
        </p:nvSpPr>
        <p:spPr>
          <a:xfrm>
            <a:off x="3337560" y="1783080"/>
            <a:ext cx="2514600" cy="1417320"/>
          </a:xfrm>
          <a:prstGeom prst="rect">
            <a:avLst/>
          </a:prstGeom>
          <a:solidFill>
            <a:srgbClr val="161719"/>
          </a:solidFill>
          <a:ln w="19050">
            <a:solidFill>
              <a:srgbClr val="A594F2"/>
            </a:solidFill>
            <a:prstDash val="solid"/>
          </a:ln>
        </p:spPr>
      </p:sp>
      <p:sp>
        <p:nvSpPr>
          <p:cNvPr id="12" name="Text 10"/>
          <p:cNvSpPr/>
          <p:nvPr/>
        </p:nvSpPr>
        <p:spPr>
          <a:xfrm>
            <a:off x="3474720" y="1847088"/>
            <a:ext cx="2286000" cy="411480"/>
          </a:xfrm>
          <a:prstGeom prst="rect">
            <a:avLst/>
          </a:prstGeom>
          <a:noFill/>
          <a:ln/>
        </p:spPr>
        <p:txBody>
          <a:bodyPr wrap="square" rtlCol="0" anchor="ctr"/>
          <a:lstStyle/>
          <a:p>
            <a:pPr indent="0" marL="0">
              <a:buNone/>
            </a:pPr>
            <a:r>
              <a:rPr lang="en-US" sz="1600" b="1" dirty="0">
                <a:solidFill>
                  <a:srgbClr val="A594F2"/>
                </a:solidFill>
                <a:latin typeface="Segoe UI" pitchFamily="34" charset="0"/>
                <a:ea typeface="Segoe UI" pitchFamily="34" charset="-122"/>
                <a:cs typeface="Segoe UI" pitchFamily="34" charset="-120"/>
              </a:rPr>
              <a:t>Servicios</a:t>
            </a:r>
            <a:endParaRPr lang="en-US" sz="1600" dirty="0"/>
          </a:p>
        </p:txBody>
      </p:sp>
      <p:sp>
        <p:nvSpPr>
          <p:cNvPr id="13" name="Text 11"/>
          <p:cNvSpPr/>
          <p:nvPr/>
        </p:nvSpPr>
        <p:spPr>
          <a:xfrm>
            <a:off x="3474720" y="2286000"/>
            <a:ext cx="2286000" cy="822960"/>
          </a:xfrm>
          <a:prstGeom prst="rect">
            <a:avLst/>
          </a:prstGeom>
          <a:noFill/>
          <a:ln/>
        </p:spPr>
        <p:txBody>
          <a:bodyPr wrap="square" rtlCol="0" anchor="t"/>
          <a:lstStyle/>
          <a:p>
            <a:pPr indent="0" marL="0">
              <a:buNone/>
            </a:pPr>
            <a:r>
              <a:rPr lang="en-US" sz="1200" dirty="0">
                <a:solidFill>
                  <a:srgbClr val="F3F2EF"/>
                </a:solidFill>
                <a:latin typeface="Segoe UI" pitchFamily="34" charset="0"/>
                <a:ea typeface="Segoe UI" pitchFamily="34" charset="-122"/>
                <a:cs typeface="Segoe UI" pitchFamily="34" charset="-120"/>
              </a:rPr>
              <a:t>api/*.php</a:t>
            </a:r>
            <a:endParaRPr lang="en-US" sz="1200" dirty="0"/>
          </a:p>
          <a:p>
            <a:pPr indent="0" marL="0">
              <a:buNone/>
            </a:pPr>
            <a:r>
              <a:rPr lang="en-US" sz="1200" dirty="0">
                <a:solidFill>
                  <a:srgbClr val="F3F2EF"/>
                </a:solidFill>
                <a:latin typeface="Segoe UI" pitchFamily="34" charset="0"/>
                <a:ea typeface="Segoe UI" pitchFamily="34" charset="-122"/>
                <a:cs typeface="Segoe UI" pitchFamily="34" charset="-120"/>
              </a:rPr>
              <a:t>JSON · validación · 422</a:t>
            </a:r>
            <a:endParaRPr lang="en-US" sz="1200" dirty="0"/>
          </a:p>
        </p:txBody>
      </p:sp>
      <p:sp>
        <p:nvSpPr>
          <p:cNvPr id="14" name="Text 12"/>
          <p:cNvSpPr/>
          <p:nvPr/>
        </p:nvSpPr>
        <p:spPr>
          <a:xfrm>
            <a:off x="5824728" y="2194560"/>
            <a:ext cx="365760" cy="548640"/>
          </a:xfrm>
          <a:prstGeom prst="rect">
            <a:avLst/>
          </a:prstGeom>
          <a:noFill/>
          <a:ln/>
        </p:spPr>
        <p:txBody>
          <a:bodyPr wrap="square" rtlCol="0" anchor="ctr"/>
          <a:lstStyle/>
          <a:p>
            <a:pPr algn="ctr" indent="0" marL="0">
              <a:buNone/>
            </a:pPr>
            <a:r>
              <a:rPr lang="en-US" sz="2400" dirty="0">
                <a:solidFill>
                  <a:srgbClr val="A3A2A9"/>
                </a:solidFill>
                <a:latin typeface="Segoe UI" pitchFamily="34" charset="0"/>
                <a:ea typeface="Segoe UI" pitchFamily="34" charset="-122"/>
                <a:cs typeface="Segoe UI" pitchFamily="34" charset="-120"/>
              </a:rPr>
              <a:t>→</a:t>
            </a:r>
            <a:endParaRPr lang="en-US" sz="2400" dirty="0"/>
          </a:p>
        </p:txBody>
      </p:sp>
      <p:sp>
        <p:nvSpPr>
          <p:cNvPr id="15" name="Shape 13"/>
          <p:cNvSpPr/>
          <p:nvPr/>
        </p:nvSpPr>
        <p:spPr>
          <a:xfrm>
            <a:off x="6172200" y="1783080"/>
            <a:ext cx="2514600" cy="1417320"/>
          </a:xfrm>
          <a:prstGeom prst="rect">
            <a:avLst/>
          </a:prstGeom>
          <a:solidFill>
            <a:srgbClr val="161719"/>
          </a:solidFill>
          <a:ln w="19050">
            <a:solidFill>
              <a:srgbClr val="F3B36B"/>
            </a:solidFill>
            <a:prstDash val="solid"/>
          </a:ln>
        </p:spPr>
      </p:sp>
      <p:sp>
        <p:nvSpPr>
          <p:cNvPr id="16" name="Text 14"/>
          <p:cNvSpPr/>
          <p:nvPr/>
        </p:nvSpPr>
        <p:spPr>
          <a:xfrm>
            <a:off x="6309360" y="1847088"/>
            <a:ext cx="2286000" cy="411480"/>
          </a:xfrm>
          <a:prstGeom prst="rect">
            <a:avLst/>
          </a:prstGeom>
          <a:noFill/>
          <a:ln/>
        </p:spPr>
        <p:txBody>
          <a:bodyPr wrap="square" rtlCol="0" anchor="ctr"/>
          <a:lstStyle/>
          <a:p>
            <a:pPr indent="0" marL="0">
              <a:buNone/>
            </a:pPr>
            <a:r>
              <a:rPr lang="en-US" sz="1600" b="1" dirty="0">
                <a:solidFill>
                  <a:srgbClr val="F3B36B"/>
                </a:solidFill>
                <a:latin typeface="Segoe UI" pitchFamily="34" charset="0"/>
                <a:ea typeface="Segoe UI" pitchFamily="34" charset="-122"/>
                <a:cs typeface="Segoe UI" pitchFamily="34" charset="-120"/>
              </a:rPr>
              <a:t>Lógica de negocio</a:t>
            </a:r>
            <a:endParaRPr lang="en-US" sz="1600" dirty="0"/>
          </a:p>
        </p:txBody>
      </p:sp>
      <p:sp>
        <p:nvSpPr>
          <p:cNvPr id="17" name="Text 15"/>
          <p:cNvSpPr/>
          <p:nvPr/>
        </p:nvSpPr>
        <p:spPr>
          <a:xfrm>
            <a:off x="6309360" y="2286000"/>
            <a:ext cx="2286000" cy="822960"/>
          </a:xfrm>
          <a:prstGeom prst="rect">
            <a:avLst/>
          </a:prstGeom>
          <a:noFill/>
          <a:ln/>
        </p:spPr>
        <p:txBody>
          <a:bodyPr wrap="square" rtlCol="0" anchor="t"/>
          <a:lstStyle/>
          <a:p>
            <a:pPr indent="0" marL="0">
              <a:buNone/>
            </a:pPr>
            <a:r>
              <a:rPr lang="en-US" sz="1200" dirty="0">
                <a:solidFill>
                  <a:srgbClr val="F3F2EF"/>
                </a:solidFill>
                <a:latin typeface="Segoe UI" pitchFamily="34" charset="0"/>
                <a:ea typeface="Segoe UI" pitchFamily="34" charset="-122"/>
                <a:cs typeface="Segoe UI" pitchFamily="34" charset="-120"/>
              </a:rPr>
              <a:t>app/ReglasNegocio, Pedidos,</a:t>
            </a:r>
            <a:endParaRPr lang="en-US" sz="1200" dirty="0"/>
          </a:p>
          <a:p>
            <a:pPr indent="0" marL="0">
              <a:buNone/>
            </a:pPr>
            <a:r>
              <a:rPr lang="en-US" sz="1200" dirty="0">
                <a:solidFill>
                  <a:srgbClr val="F3F2EF"/>
                </a:solidFill>
                <a:latin typeface="Segoe UI" pitchFamily="34" charset="0"/>
                <a:ea typeface="Segoe UI" pitchFamily="34" charset="-122"/>
                <a:cs typeface="Segoe UI" pitchFamily="34" charset="-120"/>
              </a:rPr>
              <a:t>Pagos, Eventos…</a:t>
            </a:r>
            <a:endParaRPr lang="en-US" sz="1200" dirty="0"/>
          </a:p>
        </p:txBody>
      </p:sp>
      <p:sp>
        <p:nvSpPr>
          <p:cNvPr id="18" name="Text 16"/>
          <p:cNvSpPr/>
          <p:nvPr/>
        </p:nvSpPr>
        <p:spPr>
          <a:xfrm>
            <a:off x="8659368" y="2194560"/>
            <a:ext cx="365760" cy="548640"/>
          </a:xfrm>
          <a:prstGeom prst="rect">
            <a:avLst/>
          </a:prstGeom>
          <a:noFill/>
          <a:ln/>
        </p:spPr>
        <p:txBody>
          <a:bodyPr wrap="square" rtlCol="0" anchor="ctr"/>
          <a:lstStyle/>
          <a:p>
            <a:pPr algn="ctr" indent="0" marL="0">
              <a:buNone/>
            </a:pPr>
            <a:r>
              <a:rPr lang="en-US" sz="2400" dirty="0">
                <a:solidFill>
                  <a:srgbClr val="A3A2A9"/>
                </a:solidFill>
                <a:latin typeface="Segoe UI" pitchFamily="34" charset="0"/>
                <a:ea typeface="Segoe UI" pitchFamily="34" charset="-122"/>
                <a:cs typeface="Segoe UI" pitchFamily="34" charset="-120"/>
              </a:rPr>
              <a:t>→</a:t>
            </a:r>
            <a:endParaRPr lang="en-US" sz="2400" dirty="0"/>
          </a:p>
        </p:txBody>
      </p:sp>
      <p:sp>
        <p:nvSpPr>
          <p:cNvPr id="19" name="Shape 17"/>
          <p:cNvSpPr/>
          <p:nvPr/>
        </p:nvSpPr>
        <p:spPr>
          <a:xfrm>
            <a:off x="9006840" y="1783080"/>
            <a:ext cx="2514600" cy="1417320"/>
          </a:xfrm>
          <a:prstGeom prst="rect">
            <a:avLst/>
          </a:prstGeom>
          <a:solidFill>
            <a:srgbClr val="161719"/>
          </a:solidFill>
          <a:ln w="19050">
            <a:solidFill>
              <a:srgbClr val="BFE86E"/>
            </a:solidFill>
            <a:prstDash val="solid"/>
          </a:ln>
        </p:spPr>
      </p:sp>
      <p:sp>
        <p:nvSpPr>
          <p:cNvPr id="20" name="Text 18"/>
          <p:cNvSpPr/>
          <p:nvPr/>
        </p:nvSpPr>
        <p:spPr>
          <a:xfrm>
            <a:off x="9144000" y="1847088"/>
            <a:ext cx="2286000" cy="411480"/>
          </a:xfrm>
          <a:prstGeom prst="rect">
            <a:avLst/>
          </a:prstGeom>
          <a:noFill/>
          <a:ln/>
        </p:spPr>
        <p:txBody>
          <a:bodyPr wrap="square" rtlCol="0" anchor="ctr"/>
          <a:lstStyle/>
          <a:p>
            <a:pPr indent="0" marL="0">
              <a:buNone/>
            </a:pPr>
            <a:r>
              <a:rPr lang="en-US" sz="1600" b="1" dirty="0">
                <a:solidFill>
                  <a:srgbClr val="BFE86E"/>
                </a:solidFill>
                <a:latin typeface="Segoe UI" pitchFamily="34" charset="0"/>
                <a:ea typeface="Segoe UI" pitchFamily="34" charset="-122"/>
                <a:cs typeface="Segoe UI" pitchFamily="34" charset="-120"/>
              </a:rPr>
              <a:t>Persistencia</a:t>
            </a:r>
            <a:endParaRPr lang="en-US" sz="1600" dirty="0"/>
          </a:p>
        </p:txBody>
      </p:sp>
      <p:sp>
        <p:nvSpPr>
          <p:cNvPr id="21" name="Text 19"/>
          <p:cNvSpPr/>
          <p:nvPr/>
        </p:nvSpPr>
        <p:spPr>
          <a:xfrm>
            <a:off x="9144000" y="2286000"/>
            <a:ext cx="2286000" cy="822960"/>
          </a:xfrm>
          <a:prstGeom prst="rect">
            <a:avLst/>
          </a:prstGeom>
          <a:noFill/>
          <a:ln/>
        </p:spPr>
        <p:txBody>
          <a:bodyPr wrap="square" rtlCol="0" anchor="t"/>
          <a:lstStyle/>
          <a:p>
            <a:pPr indent="0" marL="0">
              <a:buNone/>
            </a:pPr>
            <a:r>
              <a:rPr lang="en-US" sz="1200" dirty="0">
                <a:solidFill>
                  <a:srgbClr val="F3F2EF"/>
                </a:solidFill>
                <a:latin typeface="Segoe UI" pitchFamily="34" charset="0"/>
                <a:ea typeface="Segoe UI" pitchFamily="34" charset="-122"/>
                <a:cs typeface="Segoe UI" pitchFamily="34" charset="-120"/>
              </a:rPr>
              <a:t>PDO + MySQL</a:t>
            </a:r>
            <a:endParaRPr lang="en-US" sz="1200" dirty="0"/>
          </a:p>
          <a:p>
            <a:pPr indent="0" marL="0">
              <a:buNone/>
            </a:pPr>
            <a:r>
              <a:rPr lang="en-US" sz="1200" dirty="0">
                <a:solidFill>
                  <a:srgbClr val="F3F2EF"/>
                </a:solidFill>
                <a:latin typeface="Segoe UI" pitchFamily="34" charset="0"/>
                <a:ea typeface="Segoe UI" pitchFamily="34" charset="-122"/>
                <a:cs typeface="Segoe UI" pitchFamily="34" charset="-120"/>
              </a:rPr>
              <a:t>15 tablas · transacciones</a:t>
            </a:r>
            <a:endParaRPr lang="en-US" sz="1200" dirty="0"/>
          </a:p>
        </p:txBody>
      </p:sp>
      <p:sp>
        <p:nvSpPr>
          <p:cNvPr id="22" name="Text 20"/>
          <p:cNvSpPr/>
          <p:nvPr/>
        </p:nvSpPr>
        <p:spPr>
          <a:xfrm>
            <a:off x="502920" y="3291840"/>
            <a:ext cx="11155680" cy="365760"/>
          </a:xfrm>
          <a:prstGeom prst="rect">
            <a:avLst/>
          </a:prstGeom>
          <a:noFill/>
          <a:ln/>
        </p:spPr>
        <p:txBody>
          <a:bodyPr wrap="square" rtlCol="0" anchor="ctr"/>
          <a:lstStyle/>
          <a:p>
            <a:pPr indent="0" marL="0">
              <a:buNone/>
            </a:pPr>
            <a:r>
              <a:rPr lang="en-US" sz="1300" i="1" dirty="0">
                <a:solidFill>
                  <a:srgbClr val="A3A2A9"/>
                </a:solidFill>
                <a:latin typeface="Segoe UI" pitchFamily="34" charset="0"/>
                <a:ea typeface="Segoe UI" pitchFamily="34" charset="-122"/>
                <a:cs typeface="Segoe UI" pitchFamily="34" charset="-120"/>
              </a:rPr>
              <a:t>Hosting InfinityFree, provisional (Apache + PHP + MySQL) · el navegador nunca decide precios, impuestos ni stock</a:t>
            </a:r>
            <a:endParaRPr lang="en-US" sz="1300" dirty="0"/>
          </a:p>
        </p:txBody>
      </p:sp>
      <p:sp>
        <p:nvSpPr>
          <p:cNvPr id="23" name="Shape 21"/>
          <p:cNvSpPr/>
          <p:nvPr/>
        </p:nvSpPr>
        <p:spPr>
          <a:xfrm>
            <a:off x="502920" y="4069080"/>
            <a:ext cx="1463040" cy="685800"/>
          </a:xfrm>
          <a:prstGeom prst="roundRect">
            <a:avLst>
              <a:gd name="adj" fmla="val 10667"/>
            </a:avLst>
          </a:prstGeom>
          <a:solidFill>
            <a:srgbClr val="161719"/>
          </a:solidFill>
          <a:ln w="12700">
            <a:solidFill>
              <a:srgbClr val="55DCD4"/>
            </a:solidFill>
            <a:prstDash val="solid"/>
          </a:ln>
        </p:spPr>
      </p:sp>
      <p:sp>
        <p:nvSpPr>
          <p:cNvPr id="24" name="Text 22"/>
          <p:cNvSpPr/>
          <p:nvPr/>
        </p:nvSpPr>
        <p:spPr>
          <a:xfrm>
            <a:off x="502920" y="4069080"/>
            <a:ext cx="1463040" cy="685800"/>
          </a:xfrm>
          <a:prstGeom prst="rect">
            <a:avLst/>
          </a:prstGeom>
          <a:noFill/>
          <a:ln/>
        </p:spPr>
        <p:txBody>
          <a:bodyPr wrap="square" rtlCol="0" anchor="ctr"/>
          <a:lstStyle/>
          <a:p>
            <a:pPr algn="ctr" indent="0" marL="0">
              <a:buNone/>
            </a:pPr>
            <a:r>
              <a:rPr lang="en-US" sz="1300" b="1" dirty="0">
                <a:solidFill>
                  <a:srgbClr val="F3F2EF"/>
                </a:solidFill>
                <a:latin typeface="Segoe UI" pitchFamily="34" charset="0"/>
                <a:ea typeface="Segoe UI" pitchFamily="34" charset="-122"/>
                <a:cs typeface="Segoe UI" pitchFamily="34" charset="-120"/>
              </a:rPr>
              <a:t>Catálogo</a:t>
            </a:r>
            <a:endParaRPr lang="en-US" sz="1300" dirty="0"/>
          </a:p>
        </p:txBody>
      </p:sp>
      <p:sp>
        <p:nvSpPr>
          <p:cNvPr id="25" name="Text 23"/>
          <p:cNvSpPr/>
          <p:nvPr/>
        </p:nvSpPr>
        <p:spPr>
          <a:xfrm>
            <a:off x="411480" y="4846320"/>
            <a:ext cx="1645920" cy="365760"/>
          </a:xfrm>
          <a:prstGeom prst="rect">
            <a:avLst/>
          </a:prstGeom>
          <a:noFill/>
          <a:ln/>
        </p:spPr>
        <p:txBody>
          <a:bodyPr wrap="square" rtlCol="0" anchor="ctr"/>
          <a:lstStyle/>
          <a:p>
            <a:pPr algn="ctr" indent="0" marL="0">
              <a:buNone/>
            </a:pPr>
            <a:r>
              <a:rPr lang="en-US" sz="900" dirty="0">
                <a:solidFill>
                  <a:srgbClr val="55DCD4"/>
                </a:solidFill>
                <a:latin typeface="Consolas" pitchFamily="34" charset="0"/>
                <a:ea typeface="Consolas" pitchFamily="34" charset="-122"/>
                <a:cs typeface="Consolas" pitchFamily="34" charset="-120"/>
              </a:rPr>
              <a:t>product.viewed</a:t>
            </a:r>
            <a:endParaRPr lang="en-US" sz="900" dirty="0"/>
          </a:p>
        </p:txBody>
      </p:sp>
      <p:sp>
        <p:nvSpPr>
          <p:cNvPr id="26" name="Shape 24"/>
          <p:cNvSpPr/>
          <p:nvPr/>
        </p:nvSpPr>
        <p:spPr>
          <a:xfrm>
            <a:off x="2121408" y="4069080"/>
            <a:ext cx="1463040" cy="685800"/>
          </a:xfrm>
          <a:prstGeom prst="roundRect">
            <a:avLst>
              <a:gd name="adj" fmla="val 10667"/>
            </a:avLst>
          </a:prstGeom>
          <a:solidFill>
            <a:srgbClr val="161719"/>
          </a:solidFill>
          <a:ln w="12700">
            <a:solidFill>
              <a:srgbClr val="55DCD4"/>
            </a:solidFill>
            <a:prstDash val="solid"/>
          </a:ln>
        </p:spPr>
      </p:sp>
      <p:sp>
        <p:nvSpPr>
          <p:cNvPr id="27" name="Text 25"/>
          <p:cNvSpPr/>
          <p:nvPr/>
        </p:nvSpPr>
        <p:spPr>
          <a:xfrm>
            <a:off x="2121408" y="4069080"/>
            <a:ext cx="1463040" cy="685800"/>
          </a:xfrm>
          <a:prstGeom prst="rect">
            <a:avLst/>
          </a:prstGeom>
          <a:noFill/>
          <a:ln/>
        </p:spPr>
        <p:txBody>
          <a:bodyPr wrap="square" rtlCol="0" anchor="ctr"/>
          <a:lstStyle/>
          <a:p>
            <a:pPr algn="ctr" indent="0" marL="0">
              <a:buNone/>
            </a:pPr>
            <a:r>
              <a:rPr lang="en-US" sz="1300" b="1" dirty="0">
                <a:solidFill>
                  <a:srgbClr val="F3F2EF"/>
                </a:solidFill>
                <a:latin typeface="Segoe UI" pitchFamily="34" charset="0"/>
                <a:ea typeface="Segoe UI" pitchFamily="34" charset="-122"/>
                <a:cs typeface="Segoe UI" pitchFamily="34" charset="-120"/>
              </a:rPr>
              <a:t>Carrito</a:t>
            </a:r>
            <a:endParaRPr lang="en-US" sz="1300" dirty="0"/>
          </a:p>
        </p:txBody>
      </p:sp>
      <p:sp>
        <p:nvSpPr>
          <p:cNvPr id="28" name="Text 26"/>
          <p:cNvSpPr/>
          <p:nvPr/>
        </p:nvSpPr>
        <p:spPr>
          <a:xfrm>
            <a:off x="2029968" y="4846320"/>
            <a:ext cx="1645920" cy="365760"/>
          </a:xfrm>
          <a:prstGeom prst="rect">
            <a:avLst/>
          </a:prstGeom>
          <a:noFill/>
          <a:ln/>
        </p:spPr>
        <p:txBody>
          <a:bodyPr wrap="square" rtlCol="0" anchor="ctr"/>
          <a:lstStyle/>
          <a:p>
            <a:pPr algn="ctr" indent="0" marL="0">
              <a:buNone/>
            </a:pPr>
            <a:r>
              <a:rPr lang="en-US" sz="900" dirty="0">
                <a:solidFill>
                  <a:srgbClr val="55DCD4"/>
                </a:solidFill>
                <a:latin typeface="Consolas" pitchFamily="34" charset="0"/>
                <a:ea typeface="Consolas" pitchFamily="34" charset="-122"/>
                <a:cs typeface="Consolas" pitchFamily="34" charset="-120"/>
              </a:rPr>
              <a:t>cart.item_added</a:t>
            </a:r>
            <a:endParaRPr lang="en-US" sz="900" dirty="0"/>
          </a:p>
        </p:txBody>
      </p:sp>
      <p:sp>
        <p:nvSpPr>
          <p:cNvPr id="29" name="Shape 27"/>
          <p:cNvSpPr/>
          <p:nvPr/>
        </p:nvSpPr>
        <p:spPr>
          <a:xfrm>
            <a:off x="3739896" y="4069080"/>
            <a:ext cx="1463040" cy="685800"/>
          </a:xfrm>
          <a:prstGeom prst="roundRect">
            <a:avLst>
              <a:gd name="adj" fmla="val 10667"/>
            </a:avLst>
          </a:prstGeom>
          <a:solidFill>
            <a:srgbClr val="161719"/>
          </a:solidFill>
          <a:ln w="12700">
            <a:solidFill>
              <a:srgbClr val="55DCD4"/>
            </a:solidFill>
            <a:prstDash val="solid"/>
          </a:ln>
        </p:spPr>
      </p:sp>
      <p:sp>
        <p:nvSpPr>
          <p:cNvPr id="30" name="Text 28"/>
          <p:cNvSpPr/>
          <p:nvPr/>
        </p:nvSpPr>
        <p:spPr>
          <a:xfrm>
            <a:off x="3739896" y="4069080"/>
            <a:ext cx="1463040" cy="685800"/>
          </a:xfrm>
          <a:prstGeom prst="rect">
            <a:avLst/>
          </a:prstGeom>
          <a:noFill/>
          <a:ln/>
        </p:spPr>
        <p:txBody>
          <a:bodyPr wrap="square" rtlCol="0" anchor="ctr"/>
          <a:lstStyle/>
          <a:p>
            <a:pPr algn="ctr" indent="0" marL="0">
              <a:buNone/>
            </a:pPr>
            <a:r>
              <a:rPr lang="en-US" sz="1300" b="1" dirty="0">
                <a:solidFill>
                  <a:srgbClr val="F3F2EF"/>
                </a:solidFill>
                <a:latin typeface="Segoe UI" pitchFamily="34" charset="0"/>
                <a:ea typeface="Segoe UI" pitchFamily="34" charset="-122"/>
                <a:cs typeface="Segoe UI" pitchFamily="34" charset="-120"/>
              </a:rPr>
              <a:t>Checkout</a:t>
            </a:r>
            <a:endParaRPr lang="en-US" sz="1300" dirty="0"/>
          </a:p>
        </p:txBody>
      </p:sp>
      <p:sp>
        <p:nvSpPr>
          <p:cNvPr id="31" name="Text 29"/>
          <p:cNvSpPr/>
          <p:nvPr/>
        </p:nvSpPr>
        <p:spPr>
          <a:xfrm>
            <a:off x="3648456" y="4846320"/>
            <a:ext cx="1645920" cy="365760"/>
          </a:xfrm>
          <a:prstGeom prst="rect">
            <a:avLst/>
          </a:prstGeom>
          <a:noFill/>
          <a:ln/>
        </p:spPr>
        <p:txBody>
          <a:bodyPr wrap="square" rtlCol="0" anchor="ctr"/>
          <a:lstStyle/>
          <a:p>
            <a:pPr algn="ctr" indent="0" marL="0">
              <a:buNone/>
            </a:pPr>
            <a:r>
              <a:rPr lang="en-US" sz="900" dirty="0">
                <a:solidFill>
                  <a:srgbClr val="55DCD4"/>
                </a:solidFill>
                <a:latin typeface="Consolas" pitchFamily="34" charset="0"/>
                <a:ea typeface="Consolas" pitchFamily="34" charset="-122"/>
                <a:cs typeface="Consolas" pitchFamily="34" charset="-120"/>
              </a:rPr>
              <a:t>checkout.started</a:t>
            </a:r>
            <a:endParaRPr lang="en-US" sz="900" dirty="0"/>
          </a:p>
        </p:txBody>
      </p:sp>
      <p:sp>
        <p:nvSpPr>
          <p:cNvPr id="32" name="Shape 30"/>
          <p:cNvSpPr/>
          <p:nvPr/>
        </p:nvSpPr>
        <p:spPr>
          <a:xfrm>
            <a:off x="5358384" y="4069080"/>
            <a:ext cx="1463040" cy="685800"/>
          </a:xfrm>
          <a:prstGeom prst="roundRect">
            <a:avLst>
              <a:gd name="adj" fmla="val 10667"/>
            </a:avLst>
          </a:prstGeom>
          <a:solidFill>
            <a:srgbClr val="161719"/>
          </a:solidFill>
          <a:ln w="12700">
            <a:solidFill>
              <a:srgbClr val="A594F2"/>
            </a:solidFill>
            <a:prstDash val="solid"/>
          </a:ln>
        </p:spPr>
      </p:sp>
      <p:sp>
        <p:nvSpPr>
          <p:cNvPr id="33" name="Text 31"/>
          <p:cNvSpPr/>
          <p:nvPr/>
        </p:nvSpPr>
        <p:spPr>
          <a:xfrm>
            <a:off x="5358384" y="4069080"/>
            <a:ext cx="1463040" cy="685800"/>
          </a:xfrm>
          <a:prstGeom prst="rect">
            <a:avLst/>
          </a:prstGeom>
          <a:noFill/>
          <a:ln/>
        </p:spPr>
        <p:txBody>
          <a:bodyPr wrap="square" rtlCol="0" anchor="ctr"/>
          <a:lstStyle/>
          <a:p>
            <a:pPr algn="ctr" indent="0" marL="0">
              <a:buNone/>
            </a:pPr>
            <a:r>
              <a:rPr lang="en-US" sz="1300" b="1" dirty="0">
                <a:solidFill>
                  <a:srgbClr val="F3F2EF"/>
                </a:solidFill>
                <a:latin typeface="Segoe UI" pitchFamily="34" charset="0"/>
                <a:ea typeface="Segoe UI" pitchFamily="34" charset="-122"/>
                <a:cs typeface="Segoe UI" pitchFamily="34" charset="-120"/>
              </a:rPr>
              <a:t>Pedido</a:t>
            </a:r>
            <a:endParaRPr lang="en-US" sz="1300" dirty="0"/>
          </a:p>
        </p:txBody>
      </p:sp>
      <p:sp>
        <p:nvSpPr>
          <p:cNvPr id="34" name="Text 32"/>
          <p:cNvSpPr/>
          <p:nvPr/>
        </p:nvSpPr>
        <p:spPr>
          <a:xfrm>
            <a:off x="5266944" y="4846320"/>
            <a:ext cx="1645920" cy="365760"/>
          </a:xfrm>
          <a:prstGeom prst="rect">
            <a:avLst/>
          </a:prstGeom>
          <a:noFill/>
          <a:ln/>
        </p:spPr>
        <p:txBody>
          <a:bodyPr wrap="square" rtlCol="0" anchor="ctr"/>
          <a:lstStyle/>
          <a:p>
            <a:pPr algn="ctr" indent="0" marL="0">
              <a:buNone/>
            </a:pPr>
            <a:r>
              <a:rPr lang="en-US" sz="900" dirty="0">
                <a:solidFill>
                  <a:srgbClr val="A594F2"/>
                </a:solidFill>
                <a:latin typeface="Consolas" pitchFamily="34" charset="0"/>
                <a:ea typeface="Consolas" pitchFamily="34" charset="-122"/>
                <a:cs typeface="Consolas" pitchFamily="34" charset="-120"/>
              </a:rPr>
              <a:t>order.created</a:t>
            </a:r>
            <a:endParaRPr lang="en-US" sz="900" dirty="0"/>
          </a:p>
        </p:txBody>
      </p:sp>
      <p:sp>
        <p:nvSpPr>
          <p:cNvPr id="35" name="Shape 33"/>
          <p:cNvSpPr/>
          <p:nvPr/>
        </p:nvSpPr>
        <p:spPr>
          <a:xfrm>
            <a:off x="6976872" y="4069080"/>
            <a:ext cx="1463040" cy="685800"/>
          </a:xfrm>
          <a:prstGeom prst="roundRect">
            <a:avLst>
              <a:gd name="adj" fmla="val 10667"/>
            </a:avLst>
          </a:prstGeom>
          <a:solidFill>
            <a:srgbClr val="161719"/>
          </a:solidFill>
          <a:ln w="12700">
            <a:solidFill>
              <a:srgbClr val="A594F2"/>
            </a:solidFill>
            <a:prstDash val="solid"/>
          </a:ln>
        </p:spPr>
      </p:sp>
      <p:sp>
        <p:nvSpPr>
          <p:cNvPr id="36" name="Text 34"/>
          <p:cNvSpPr/>
          <p:nvPr/>
        </p:nvSpPr>
        <p:spPr>
          <a:xfrm>
            <a:off x="6976872" y="4069080"/>
            <a:ext cx="1463040" cy="685800"/>
          </a:xfrm>
          <a:prstGeom prst="rect">
            <a:avLst/>
          </a:prstGeom>
          <a:noFill/>
          <a:ln/>
        </p:spPr>
        <p:txBody>
          <a:bodyPr wrap="square" rtlCol="0" anchor="ctr"/>
          <a:lstStyle/>
          <a:p>
            <a:pPr algn="ctr" indent="0" marL="0">
              <a:buNone/>
            </a:pPr>
            <a:r>
              <a:rPr lang="en-US" sz="1300" b="1" dirty="0">
                <a:solidFill>
                  <a:srgbClr val="F3F2EF"/>
                </a:solidFill>
                <a:latin typeface="Segoe UI" pitchFamily="34" charset="0"/>
                <a:ea typeface="Segoe UI" pitchFamily="34" charset="-122"/>
                <a:cs typeface="Segoe UI" pitchFamily="34" charset="-120"/>
              </a:rPr>
              <a:t>Pago simulado</a:t>
            </a:r>
            <a:endParaRPr lang="en-US" sz="1300" dirty="0"/>
          </a:p>
        </p:txBody>
      </p:sp>
      <p:sp>
        <p:nvSpPr>
          <p:cNvPr id="37" name="Text 35"/>
          <p:cNvSpPr/>
          <p:nvPr/>
        </p:nvSpPr>
        <p:spPr>
          <a:xfrm>
            <a:off x="6885432" y="4846320"/>
            <a:ext cx="1645920" cy="365760"/>
          </a:xfrm>
          <a:prstGeom prst="rect">
            <a:avLst/>
          </a:prstGeom>
          <a:noFill/>
          <a:ln/>
        </p:spPr>
        <p:txBody>
          <a:bodyPr wrap="square" rtlCol="0" anchor="ctr"/>
          <a:lstStyle/>
          <a:p>
            <a:pPr algn="ctr" indent="0" marL="0">
              <a:buNone/>
            </a:pPr>
            <a:r>
              <a:rPr lang="en-US" sz="900" dirty="0">
                <a:solidFill>
                  <a:srgbClr val="A594F2"/>
                </a:solidFill>
                <a:latin typeface="Consolas" pitchFamily="34" charset="0"/>
                <a:ea typeface="Consolas" pitchFamily="34" charset="-122"/>
                <a:cs typeface="Consolas" pitchFamily="34" charset="-120"/>
              </a:rPr>
              <a:t>payment.simulated</a:t>
            </a:r>
            <a:endParaRPr lang="en-US" sz="900" dirty="0"/>
          </a:p>
        </p:txBody>
      </p:sp>
      <p:sp>
        <p:nvSpPr>
          <p:cNvPr id="38" name="Shape 36"/>
          <p:cNvSpPr/>
          <p:nvPr/>
        </p:nvSpPr>
        <p:spPr>
          <a:xfrm>
            <a:off x="8595360" y="4069080"/>
            <a:ext cx="1463040" cy="685800"/>
          </a:xfrm>
          <a:prstGeom prst="roundRect">
            <a:avLst>
              <a:gd name="adj" fmla="val 10667"/>
            </a:avLst>
          </a:prstGeom>
          <a:solidFill>
            <a:srgbClr val="161719"/>
          </a:solidFill>
          <a:ln w="12700">
            <a:solidFill>
              <a:srgbClr val="A594F2"/>
            </a:solidFill>
            <a:prstDash val="solid"/>
          </a:ln>
        </p:spPr>
      </p:sp>
      <p:sp>
        <p:nvSpPr>
          <p:cNvPr id="39" name="Text 37"/>
          <p:cNvSpPr/>
          <p:nvPr/>
        </p:nvSpPr>
        <p:spPr>
          <a:xfrm>
            <a:off x="8595360" y="4069080"/>
            <a:ext cx="1463040" cy="685800"/>
          </a:xfrm>
          <a:prstGeom prst="rect">
            <a:avLst/>
          </a:prstGeom>
          <a:noFill/>
          <a:ln/>
        </p:spPr>
        <p:txBody>
          <a:bodyPr wrap="square" rtlCol="0" anchor="ctr"/>
          <a:lstStyle/>
          <a:p>
            <a:pPr algn="ctr" indent="0" marL="0">
              <a:buNone/>
            </a:pPr>
            <a:r>
              <a:rPr lang="en-US" sz="1300" b="1" dirty="0">
                <a:solidFill>
                  <a:srgbClr val="F3F2EF"/>
                </a:solidFill>
                <a:latin typeface="Segoe UI" pitchFamily="34" charset="0"/>
                <a:ea typeface="Segoe UI" pitchFamily="34" charset="-122"/>
                <a:cs typeface="Segoe UI" pitchFamily="34" charset="-120"/>
              </a:rPr>
              <a:t>Back-office</a:t>
            </a:r>
            <a:endParaRPr lang="en-US" sz="1300" dirty="0"/>
          </a:p>
        </p:txBody>
      </p:sp>
      <p:sp>
        <p:nvSpPr>
          <p:cNvPr id="40" name="Text 38"/>
          <p:cNvSpPr/>
          <p:nvPr/>
        </p:nvSpPr>
        <p:spPr>
          <a:xfrm>
            <a:off x="8503920" y="4846320"/>
            <a:ext cx="1645920" cy="365760"/>
          </a:xfrm>
          <a:prstGeom prst="rect">
            <a:avLst/>
          </a:prstGeom>
          <a:noFill/>
          <a:ln/>
        </p:spPr>
        <p:txBody>
          <a:bodyPr wrap="square" rtlCol="0" anchor="ctr"/>
          <a:lstStyle/>
          <a:p>
            <a:pPr algn="ctr" indent="0" marL="0">
              <a:buNone/>
            </a:pPr>
            <a:r>
              <a:rPr lang="en-US" sz="900" dirty="0">
                <a:solidFill>
                  <a:srgbClr val="A594F2"/>
                </a:solidFill>
                <a:latin typeface="Consolas" pitchFamily="34" charset="0"/>
                <a:ea typeface="Consolas" pitchFamily="34" charset="-122"/>
                <a:cs typeface="Consolas" pitchFamily="34" charset="-120"/>
              </a:rPr>
              <a:t>order.status_changed</a:t>
            </a:r>
            <a:endParaRPr lang="en-US" sz="900" dirty="0"/>
          </a:p>
        </p:txBody>
      </p:sp>
      <p:sp>
        <p:nvSpPr>
          <p:cNvPr id="41" name="Shape 39"/>
          <p:cNvSpPr/>
          <p:nvPr/>
        </p:nvSpPr>
        <p:spPr>
          <a:xfrm>
            <a:off x="10213848" y="4069080"/>
            <a:ext cx="1463040" cy="685800"/>
          </a:xfrm>
          <a:prstGeom prst="roundRect">
            <a:avLst>
              <a:gd name="adj" fmla="val 10667"/>
            </a:avLst>
          </a:prstGeom>
          <a:solidFill>
            <a:srgbClr val="161719"/>
          </a:solidFill>
          <a:ln w="12700">
            <a:solidFill>
              <a:srgbClr val="A594F2"/>
            </a:solidFill>
            <a:prstDash val="solid"/>
          </a:ln>
        </p:spPr>
      </p:sp>
      <p:sp>
        <p:nvSpPr>
          <p:cNvPr id="42" name="Text 40"/>
          <p:cNvSpPr/>
          <p:nvPr/>
        </p:nvSpPr>
        <p:spPr>
          <a:xfrm>
            <a:off x="10213848" y="4069080"/>
            <a:ext cx="1463040" cy="685800"/>
          </a:xfrm>
          <a:prstGeom prst="rect">
            <a:avLst/>
          </a:prstGeom>
          <a:noFill/>
          <a:ln/>
        </p:spPr>
        <p:txBody>
          <a:bodyPr wrap="square" rtlCol="0" anchor="ctr"/>
          <a:lstStyle/>
          <a:p>
            <a:pPr algn="ctr" indent="0" marL="0">
              <a:buNone/>
            </a:pPr>
            <a:r>
              <a:rPr lang="en-US" sz="1300" b="1" dirty="0">
                <a:solidFill>
                  <a:srgbClr val="F3F2EF"/>
                </a:solidFill>
                <a:latin typeface="Segoe UI" pitchFamily="34" charset="0"/>
                <a:ea typeface="Segoe UI" pitchFamily="34" charset="-122"/>
                <a:cs typeface="Segoe UI" pitchFamily="34" charset="-120"/>
              </a:rPr>
              <a:t>Soporte</a:t>
            </a:r>
            <a:endParaRPr lang="en-US" sz="1300" dirty="0"/>
          </a:p>
        </p:txBody>
      </p:sp>
      <p:sp>
        <p:nvSpPr>
          <p:cNvPr id="43" name="Text 41"/>
          <p:cNvSpPr/>
          <p:nvPr/>
        </p:nvSpPr>
        <p:spPr>
          <a:xfrm>
            <a:off x="10122408" y="4846320"/>
            <a:ext cx="1645920" cy="365760"/>
          </a:xfrm>
          <a:prstGeom prst="rect">
            <a:avLst/>
          </a:prstGeom>
          <a:noFill/>
          <a:ln/>
        </p:spPr>
        <p:txBody>
          <a:bodyPr wrap="square" rtlCol="0" anchor="ctr"/>
          <a:lstStyle/>
          <a:p>
            <a:pPr algn="ctr" indent="0" marL="0">
              <a:buNone/>
            </a:pPr>
            <a:r>
              <a:rPr lang="en-US" sz="900" dirty="0">
                <a:solidFill>
                  <a:srgbClr val="A594F2"/>
                </a:solidFill>
                <a:latin typeface="Consolas" pitchFamily="34" charset="0"/>
                <a:ea typeface="Consolas" pitchFamily="34" charset="-122"/>
                <a:cs typeface="Consolas" pitchFamily="34" charset="-120"/>
              </a:rPr>
              <a:t>support.requested</a:t>
            </a:r>
            <a:endParaRPr lang="en-US" sz="900" dirty="0"/>
          </a:p>
        </p:txBody>
      </p:sp>
      <p:sp>
        <p:nvSpPr>
          <p:cNvPr id="44" name="Text 42"/>
          <p:cNvSpPr/>
          <p:nvPr/>
        </p:nvSpPr>
        <p:spPr>
          <a:xfrm>
            <a:off x="502920" y="5440680"/>
            <a:ext cx="11155680" cy="365760"/>
          </a:xfrm>
          <a:prstGeom prst="rect">
            <a:avLst/>
          </a:prstGeom>
          <a:noFill/>
          <a:ln/>
        </p:spPr>
        <p:txBody>
          <a:bodyPr wrap="square" rtlCol="0" anchor="ctr"/>
          <a:lstStyle/>
          <a:p>
            <a:pPr indent="0" marL="0">
              <a:buNone/>
            </a:pPr>
            <a:r>
              <a:rPr lang="en-US" sz="1300" b="1" dirty="0">
                <a:solidFill>
                  <a:srgbClr val="55DCD4"/>
                </a:solidFill>
                <a:latin typeface="Segoe UI" pitchFamily="34" charset="0"/>
                <a:ea typeface="Segoe UI" pitchFamily="34" charset="-122"/>
                <a:cs typeface="Segoe UI" pitchFamily="34" charset="-120"/>
              </a:rPr>
              <a:t>Eventos del navegador</a:t>
            </a:r>
            <a:pPr indent="0" marL="0">
              <a:buNone/>
            </a:pPr>
            <a:r>
              <a:rPr lang="en-US" sz="1300" dirty="0">
                <a:solidFill>
                  <a:srgbClr val="A3A2A9"/>
                </a:solidFill>
                <a:latin typeface="Segoe UI" pitchFamily="34" charset="0"/>
                <a:ea typeface="Segoe UI" pitchFamily="34" charset="-122"/>
                <a:cs typeface="Segoe UI" pitchFamily="34" charset="-120"/>
              </a:rPr>
              <a:t>  ·  </a:t>
            </a:r>
            <a:pPr indent="0" marL="0">
              <a:buNone/>
            </a:pPr>
            <a:r>
              <a:rPr lang="en-US" sz="1300" b="1" dirty="0">
                <a:solidFill>
                  <a:srgbClr val="A594F2"/>
                </a:solidFill>
                <a:latin typeface="Segoe UI" pitchFamily="34" charset="0"/>
                <a:ea typeface="Segoe UI" pitchFamily="34" charset="-122"/>
                <a:cs typeface="Segoe UI" pitchFamily="34" charset="-120"/>
              </a:rPr>
              <a:t>Eventos del servidor, en la misma transacción que el dato</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A0A0C"/>
        </a:solidFill>
      </p:bgPr>
    </p:bg>
    <p:spTree>
      <p:nvGrpSpPr>
        <p:cNvPr id="1" name=""/>
        <p:cNvGrpSpPr/>
        <p:nvPr/>
      </p:nvGrpSpPr>
      <p:grpSpPr>
        <a:xfrm>
          <a:off x="0" y="0"/>
          <a:ext cx="0" cy="0"/>
          <a:chOff x="0" y="0"/>
          <a:chExt cx="0" cy="0"/>
        </a:xfrm>
      </p:grpSpPr>
      <p:sp>
        <p:nvSpPr>
          <p:cNvPr id="2" name="Shape 0"/>
          <p:cNvSpPr/>
          <p:nvPr/>
        </p:nvSpPr>
        <p:spPr>
          <a:xfrm>
            <a:off x="502920" y="566928"/>
            <a:ext cx="109728" cy="109728"/>
          </a:xfrm>
          <a:prstGeom prst="ellipse">
            <a:avLst/>
          </a:prstGeom>
          <a:solidFill>
            <a:srgbClr val="55DCD4"/>
          </a:solidFill>
          <a:ln w="12700">
            <a:solidFill>
              <a:srgbClr val="55DCD4"/>
            </a:solidFill>
            <a:prstDash val="solid"/>
          </a:ln>
        </p:spPr>
      </p:sp>
      <p:sp>
        <p:nvSpPr>
          <p:cNvPr id="3" name="Text 1"/>
          <p:cNvSpPr/>
          <p:nvPr/>
        </p:nvSpPr>
        <p:spPr>
          <a:xfrm>
            <a:off x="685800" y="457200"/>
            <a:ext cx="2743200" cy="320040"/>
          </a:xfrm>
          <a:prstGeom prst="rect">
            <a:avLst/>
          </a:prstGeom>
          <a:noFill/>
          <a:ln/>
        </p:spPr>
        <p:txBody>
          <a:bodyPr wrap="square" rtlCol="0" anchor="ctr"/>
          <a:lstStyle/>
          <a:p>
            <a:pPr indent="0" marL="0">
              <a:buNone/>
            </a:pPr>
            <a:r>
              <a:rPr lang="en-US" sz="1200" b="1" spc="200" kern="0" dirty="0">
                <a:solidFill>
                  <a:srgbClr val="A3A2A9"/>
                </a:solidFill>
                <a:latin typeface="Segoe UI" pitchFamily="34" charset="0"/>
                <a:ea typeface="Segoe UI" pitchFamily="34" charset="-122"/>
                <a:cs typeface="Segoe UI" pitchFamily="34" charset="-120"/>
              </a:rPr>
              <a:t>NOCTILUZ</a:t>
            </a:r>
            <a:endParaRPr lang="en-US" sz="1200" dirty="0"/>
          </a:p>
        </p:txBody>
      </p:sp>
      <p:sp>
        <p:nvSpPr>
          <p:cNvPr id="4" name="Text 2"/>
          <p:cNvSpPr/>
          <p:nvPr/>
        </p:nvSpPr>
        <p:spPr>
          <a:xfrm>
            <a:off x="10332720" y="457200"/>
            <a:ext cx="1371600" cy="320040"/>
          </a:xfrm>
          <a:prstGeom prst="rect">
            <a:avLst/>
          </a:prstGeom>
          <a:noFill/>
          <a:ln/>
        </p:spPr>
        <p:txBody>
          <a:bodyPr wrap="square" rtlCol="0" anchor="ctr"/>
          <a:lstStyle/>
          <a:p>
            <a:pPr algn="r" indent="0" marL="0">
              <a:buNone/>
            </a:pPr>
            <a:r>
              <a:rPr lang="en-US" sz="1100" dirty="0">
                <a:solidFill>
                  <a:srgbClr val="A3A2A9"/>
                </a:solidFill>
                <a:latin typeface="Segoe UI" pitchFamily="34" charset="0"/>
                <a:ea typeface="Segoe UI" pitchFamily="34" charset="-122"/>
                <a:cs typeface="Segoe UI" pitchFamily="34" charset="-120"/>
              </a:rPr>
              <a:t>3 / 6</a:t>
            </a:r>
            <a:endParaRPr lang="en-US" sz="1100" dirty="0"/>
          </a:p>
        </p:txBody>
      </p:sp>
      <p:sp>
        <p:nvSpPr>
          <p:cNvPr id="5" name="Text 3"/>
          <p:cNvSpPr/>
          <p:nvPr/>
        </p:nvSpPr>
        <p:spPr>
          <a:xfrm>
            <a:off x="502920" y="868680"/>
            <a:ext cx="11155680" cy="731520"/>
          </a:xfrm>
          <a:prstGeom prst="rect">
            <a:avLst/>
          </a:prstGeom>
          <a:noFill/>
          <a:ln/>
        </p:spPr>
        <p:txBody>
          <a:bodyPr wrap="square" rtlCol="0" anchor="ctr"/>
          <a:lstStyle/>
          <a:p>
            <a:pPr indent="0" marL="0">
              <a:buNone/>
            </a:pPr>
            <a:r>
              <a:rPr lang="en-US" sz="3000" b="1" dirty="0">
                <a:solidFill>
                  <a:srgbClr val="F3F2EF"/>
                </a:solidFill>
                <a:latin typeface="Segoe UI" pitchFamily="34" charset="0"/>
                <a:ea typeface="Segoe UI" pitchFamily="34" charset="-122"/>
                <a:cs typeface="Segoe UI" pitchFamily="34" charset="-120"/>
              </a:rPr>
              <a:t>Demostración en vivo</a:t>
            </a:r>
            <a:endParaRPr lang="en-US" sz="3000" dirty="0"/>
          </a:p>
        </p:txBody>
      </p:sp>
      <p:sp>
        <p:nvSpPr>
          <p:cNvPr id="6" name="Text 4"/>
          <p:cNvSpPr/>
          <p:nvPr/>
        </p:nvSpPr>
        <p:spPr>
          <a:xfrm>
            <a:off x="502920" y="6400800"/>
            <a:ext cx="7315200" cy="274320"/>
          </a:xfrm>
          <a:prstGeom prst="rect">
            <a:avLst/>
          </a:prstGeom>
          <a:noFill/>
          <a:ln/>
        </p:spPr>
        <p:txBody>
          <a:bodyPr wrap="square" rtlCol="0" anchor="ctr"/>
          <a:lstStyle/>
          <a:p>
            <a:pPr indent="0" marL="0">
              <a:buNone/>
            </a:pPr>
            <a:r>
              <a:rPr lang="en-US" sz="900" dirty="0">
                <a:solidFill>
                  <a:srgbClr val="6E6E75"/>
                </a:solidFill>
                <a:latin typeface="Segoe UI" pitchFamily="34" charset="0"/>
                <a:ea typeface="Segoe UI" pitchFamily="34" charset="-122"/>
                <a:cs typeface="Segoe UI" pitchFamily="34" charset="-120"/>
              </a:rPr>
              <a:t>Prototipo académico UCAM · sin actividad comercial real</a:t>
            </a:r>
            <a:endParaRPr lang="en-US" sz="900" dirty="0"/>
          </a:p>
        </p:txBody>
      </p:sp>
      <p:sp>
        <p:nvSpPr>
          <p:cNvPr id="7" name="Shape 5"/>
          <p:cNvSpPr/>
          <p:nvPr/>
        </p:nvSpPr>
        <p:spPr>
          <a:xfrm>
            <a:off x="548640" y="1847088"/>
            <a:ext cx="384048" cy="384048"/>
          </a:xfrm>
          <a:prstGeom prst="ellipse">
            <a:avLst/>
          </a:prstGeom>
          <a:solidFill>
            <a:srgbClr val="161719"/>
          </a:solidFill>
          <a:ln w="12700">
            <a:solidFill>
              <a:srgbClr val="55DCD4"/>
            </a:solidFill>
            <a:prstDash val="solid"/>
          </a:ln>
        </p:spPr>
      </p:sp>
      <p:sp>
        <p:nvSpPr>
          <p:cNvPr id="8" name="Text 6"/>
          <p:cNvSpPr/>
          <p:nvPr/>
        </p:nvSpPr>
        <p:spPr>
          <a:xfrm>
            <a:off x="548640" y="1847088"/>
            <a:ext cx="384048" cy="384048"/>
          </a:xfrm>
          <a:prstGeom prst="rect">
            <a:avLst/>
          </a:prstGeom>
          <a:noFill/>
          <a:ln/>
        </p:spPr>
        <p:txBody>
          <a:bodyPr wrap="square" rtlCol="0" anchor="ctr"/>
          <a:lstStyle/>
          <a:p>
            <a:pPr algn="ctr" indent="0" marL="0">
              <a:buNone/>
            </a:pPr>
            <a:r>
              <a:rPr lang="en-US" sz="1300" b="1" dirty="0">
                <a:solidFill>
                  <a:srgbClr val="55DCD4"/>
                </a:solidFill>
                <a:latin typeface="Segoe UI" pitchFamily="34" charset="0"/>
                <a:ea typeface="Segoe UI" pitchFamily="34" charset="-122"/>
                <a:cs typeface="Segoe UI" pitchFamily="34" charset="-120"/>
              </a:rPr>
              <a:t>1</a:t>
            </a:r>
            <a:endParaRPr lang="en-US" sz="1300" dirty="0"/>
          </a:p>
        </p:txBody>
      </p:sp>
      <p:sp>
        <p:nvSpPr>
          <p:cNvPr id="9" name="Text 7"/>
          <p:cNvSpPr/>
          <p:nvPr/>
        </p:nvSpPr>
        <p:spPr>
          <a:xfrm>
            <a:off x="1097280" y="1783080"/>
            <a:ext cx="7406640" cy="512064"/>
          </a:xfrm>
          <a:prstGeom prst="rect">
            <a:avLst/>
          </a:prstGeom>
          <a:noFill/>
          <a:ln/>
        </p:spPr>
        <p:txBody>
          <a:bodyPr wrap="square" rtlCol="0" anchor="ctr"/>
          <a:lstStyle/>
          <a:p>
            <a:pPr indent="0" marL="0">
              <a:buNone/>
            </a:pPr>
            <a:r>
              <a:rPr lang="en-US" sz="1500" dirty="0">
                <a:solidFill>
                  <a:srgbClr val="F3F2EF"/>
                </a:solidFill>
                <a:latin typeface="Segoe UI" pitchFamily="34" charset="0"/>
                <a:ea typeface="Segoe UI" pitchFamily="34" charset="-122"/>
                <a:cs typeface="Segoe UI" pitchFamily="34" charset="-120"/>
              </a:rPr>
              <a:t>Filtrar: chaquetas + luz violeta + modo degradado</a:t>
            </a:r>
            <a:endParaRPr lang="en-US" sz="1500" dirty="0"/>
          </a:p>
        </p:txBody>
      </p:sp>
      <p:sp>
        <p:nvSpPr>
          <p:cNvPr id="10" name="Text 8"/>
          <p:cNvSpPr/>
          <p:nvPr/>
        </p:nvSpPr>
        <p:spPr>
          <a:xfrm>
            <a:off x="8595360" y="1783080"/>
            <a:ext cx="3063240" cy="512064"/>
          </a:xfrm>
          <a:prstGeom prst="rect">
            <a:avLst/>
          </a:prstGeom>
          <a:noFill/>
          <a:ln/>
        </p:spPr>
        <p:txBody>
          <a:bodyPr wrap="square" rtlCol="0" anchor="ctr"/>
          <a:lstStyle/>
          <a:p>
            <a:pPr algn="r" indent="0" marL="0">
              <a:buNone/>
            </a:pPr>
            <a:r>
              <a:rPr lang="en-US" sz="1200" dirty="0">
                <a:solidFill>
                  <a:srgbClr val="A594F2"/>
                </a:solidFill>
                <a:latin typeface="Consolas" pitchFamily="34" charset="0"/>
                <a:ea typeface="Consolas" pitchFamily="34" charset="-122"/>
                <a:cs typeface="Consolas" pitchFamily="34" charset="-120"/>
              </a:rPr>
              <a:t>product.viewed</a:t>
            </a:r>
            <a:endParaRPr lang="en-US" sz="1200" dirty="0"/>
          </a:p>
        </p:txBody>
      </p:sp>
      <p:sp>
        <p:nvSpPr>
          <p:cNvPr id="11" name="Shape 9"/>
          <p:cNvSpPr/>
          <p:nvPr/>
        </p:nvSpPr>
        <p:spPr>
          <a:xfrm>
            <a:off x="548640" y="2450592"/>
            <a:ext cx="384048" cy="384048"/>
          </a:xfrm>
          <a:prstGeom prst="ellipse">
            <a:avLst/>
          </a:prstGeom>
          <a:solidFill>
            <a:srgbClr val="161719"/>
          </a:solidFill>
          <a:ln w="12700">
            <a:solidFill>
              <a:srgbClr val="55DCD4"/>
            </a:solidFill>
            <a:prstDash val="solid"/>
          </a:ln>
        </p:spPr>
      </p:sp>
      <p:sp>
        <p:nvSpPr>
          <p:cNvPr id="12" name="Text 10"/>
          <p:cNvSpPr/>
          <p:nvPr/>
        </p:nvSpPr>
        <p:spPr>
          <a:xfrm>
            <a:off x="548640" y="2450592"/>
            <a:ext cx="384048" cy="384048"/>
          </a:xfrm>
          <a:prstGeom prst="rect">
            <a:avLst/>
          </a:prstGeom>
          <a:noFill/>
          <a:ln/>
        </p:spPr>
        <p:txBody>
          <a:bodyPr wrap="square" rtlCol="0" anchor="ctr"/>
          <a:lstStyle/>
          <a:p>
            <a:pPr algn="ctr" indent="0" marL="0">
              <a:buNone/>
            </a:pPr>
            <a:r>
              <a:rPr lang="en-US" sz="1300" b="1" dirty="0">
                <a:solidFill>
                  <a:srgbClr val="55DCD4"/>
                </a:solidFill>
                <a:latin typeface="Segoe UI" pitchFamily="34" charset="0"/>
                <a:ea typeface="Segoe UI" pitchFamily="34" charset="-122"/>
                <a:cs typeface="Segoe UI" pitchFamily="34" charset="-120"/>
              </a:rPr>
              <a:t>2</a:t>
            </a:r>
            <a:endParaRPr lang="en-US" sz="1300" dirty="0"/>
          </a:p>
        </p:txBody>
      </p:sp>
      <p:sp>
        <p:nvSpPr>
          <p:cNvPr id="13" name="Text 11"/>
          <p:cNvSpPr/>
          <p:nvPr/>
        </p:nvSpPr>
        <p:spPr>
          <a:xfrm>
            <a:off x="1097280" y="2386584"/>
            <a:ext cx="7406640" cy="512064"/>
          </a:xfrm>
          <a:prstGeom prst="rect">
            <a:avLst/>
          </a:prstGeom>
          <a:noFill/>
          <a:ln/>
        </p:spPr>
        <p:txBody>
          <a:bodyPr wrap="square" rtlCol="0" anchor="ctr"/>
          <a:lstStyle/>
          <a:p>
            <a:pPr indent="0" marL="0">
              <a:buNone/>
            </a:pPr>
            <a:r>
              <a:rPr lang="en-US" sz="1500" dirty="0">
                <a:solidFill>
                  <a:srgbClr val="F3F2EF"/>
                </a:solidFill>
                <a:latin typeface="Segoe UI" pitchFamily="34" charset="0"/>
                <a:ea typeface="Segoe UI" pitchFamily="34" charset="-122"/>
                <a:cs typeface="Segoe UI" pitchFamily="34" charset="-120"/>
              </a:rPr>
              <a:t>Ficha: elegir modo y talla, añadir al carrito</a:t>
            </a:r>
            <a:endParaRPr lang="en-US" sz="1500" dirty="0"/>
          </a:p>
        </p:txBody>
      </p:sp>
      <p:sp>
        <p:nvSpPr>
          <p:cNvPr id="14" name="Text 12"/>
          <p:cNvSpPr/>
          <p:nvPr/>
        </p:nvSpPr>
        <p:spPr>
          <a:xfrm>
            <a:off x="8595360" y="2386584"/>
            <a:ext cx="3063240" cy="512064"/>
          </a:xfrm>
          <a:prstGeom prst="rect">
            <a:avLst/>
          </a:prstGeom>
          <a:noFill/>
          <a:ln/>
        </p:spPr>
        <p:txBody>
          <a:bodyPr wrap="square" rtlCol="0" anchor="ctr"/>
          <a:lstStyle/>
          <a:p>
            <a:pPr algn="r" indent="0" marL="0">
              <a:buNone/>
            </a:pPr>
            <a:r>
              <a:rPr lang="en-US" sz="1200" dirty="0">
                <a:solidFill>
                  <a:srgbClr val="A594F2"/>
                </a:solidFill>
                <a:latin typeface="Consolas" pitchFamily="34" charset="0"/>
                <a:ea typeface="Consolas" pitchFamily="34" charset="-122"/>
                <a:cs typeface="Consolas" pitchFamily="34" charset="-120"/>
              </a:rPr>
              <a:t>cart.item_added</a:t>
            </a:r>
            <a:endParaRPr lang="en-US" sz="1200" dirty="0"/>
          </a:p>
        </p:txBody>
      </p:sp>
      <p:sp>
        <p:nvSpPr>
          <p:cNvPr id="15" name="Shape 13"/>
          <p:cNvSpPr/>
          <p:nvPr/>
        </p:nvSpPr>
        <p:spPr>
          <a:xfrm>
            <a:off x="548640" y="3054096"/>
            <a:ext cx="384048" cy="384048"/>
          </a:xfrm>
          <a:prstGeom prst="ellipse">
            <a:avLst/>
          </a:prstGeom>
          <a:solidFill>
            <a:srgbClr val="161719"/>
          </a:solidFill>
          <a:ln w="12700">
            <a:solidFill>
              <a:srgbClr val="55DCD4"/>
            </a:solidFill>
            <a:prstDash val="solid"/>
          </a:ln>
        </p:spPr>
      </p:sp>
      <p:sp>
        <p:nvSpPr>
          <p:cNvPr id="16" name="Text 14"/>
          <p:cNvSpPr/>
          <p:nvPr/>
        </p:nvSpPr>
        <p:spPr>
          <a:xfrm>
            <a:off x="548640" y="3054096"/>
            <a:ext cx="384048" cy="384048"/>
          </a:xfrm>
          <a:prstGeom prst="rect">
            <a:avLst/>
          </a:prstGeom>
          <a:noFill/>
          <a:ln/>
        </p:spPr>
        <p:txBody>
          <a:bodyPr wrap="square" rtlCol="0" anchor="ctr"/>
          <a:lstStyle/>
          <a:p>
            <a:pPr algn="ctr" indent="0" marL="0">
              <a:buNone/>
            </a:pPr>
            <a:r>
              <a:rPr lang="en-US" sz="1300" b="1" dirty="0">
                <a:solidFill>
                  <a:srgbClr val="55DCD4"/>
                </a:solidFill>
                <a:latin typeface="Segoe UI" pitchFamily="34" charset="0"/>
                <a:ea typeface="Segoe UI" pitchFamily="34" charset="-122"/>
                <a:cs typeface="Segoe UI" pitchFamily="34" charset="-120"/>
              </a:rPr>
              <a:t>3</a:t>
            </a:r>
            <a:endParaRPr lang="en-US" sz="1300" dirty="0"/>
          </a:p>
        </p:txBody>
      </p:sp>
      <p:sp>
        <p:nvSpPr>
          <p:cNvPr id="17" name="Text 15"/>
          <p:cNvSpPr/>
          <p:nvPr/>
        </p:nvSpPr>
        <p:spPr>
          <a:xfrm>
            <a:off x="1097280" y="2990088"/>
            <a:ext cx="7406640" cy="512064"/>
          </a:xfrm>
          <a:prstGeom prst="rect">
            <a:avLst/>
          </a:prstGeom>
          <a:noFill/>
          <a:ln/>
        </p:spPr>
        <p:txBody>
          <a:bodyPr wrap="square" rtlCol="0" anchor="ctr"/>
          <a:lstStyle/>
          <a:p>
            <a:pPr indent="0" marL="0">
              <a:buNone/>
            </a:pPr>
            <a:r>
              <a:rPr lang="en-US" sz="1500" dirty="0">
                <a:solidFill>
                  <a:srgbClr val="F3F2EF"/>
                </a:solidFill>
                <a:latin typeface="Segoe UI" pitchFamily="34" charset="0"/>
                <a:ea typeface="Segoe UI" pitchFamily="34" charset="-122"/>
                <a:cs typeface="Segoe UI" pitchFamily="34" charset="-120"/>
              </a:rPr>
              <a:t>Checkout: datos de prueba, cupón NOCHE10, IVA desglosado</a:t>
            </a:r>
            <a:endParaRPr lang="en-US" sz="1500" dirty="0"/>
          </a:p>
        </p:txBody>
      </p:sp>
      <p:sp>
        <p:nvSpPr>
          <p:cNvPr id="18" name="Text 16"/>
          <p:cNvSpPr/>
          <p:nvPr/>
        </p:nvSpPr>
        <p:spPr>
          <a:xfrm>
            <a:off x="8595360" y="2990088"/>
            <a:ext cx="3063240" cy="512064"/>
          </a:xfrm>
          <a:prstGeom prst="rect">
            <a:avLst/>
          </a:prstGeom>
          <a:noFill/>
          <a:ln/>
        </p:spPr>
        <p:txBody>
          <a:bodyPr wrap="square" rtlCol="0" anchor="ctr"/>
          <a:lstStyle/>
          <a:p>
            <a:pPr algn="r" indent="0" marL="0">
              <a:buNone/>
            </a:pPr>
            <a:r>
              <a:rPr lang="en-US" sz="1200" dirty="0">
                <a:solidFill>
                  <a:srgbClr val="A594F2"/>
                </a:solidFill>
                <a:latin typeface="Consolas" pitchFamily="34" charset="0"/>
                <a:ea typeface="Consolas" pitchFamily="34" charset="-122"/>
                <a:cs typeface="Consolas" pitchFamily="34" charset="-120"/>
              </a:rPr>
              <a:t>checkout.started</a:t>
            </a:r>
            <a:endParaRPr lang="en-US" sz="1200" dirty="0"/>
          </a:p>
        </p:txBody>
      </p:sp>
      <p:sp>
        <p:nvSpPr>
          <p:cNvPr id="19" name="Shape 17"/>
          <p:cNvSpPr/>
          <p:nvPr/>
        </p:nvSpPr>
        <p:spPr>
          <a:xfrm>
            <a:off x="548640" y="3657600"/>
            <a:ext cx="384048" cy="384048"/>
          </a:xfrm>
          <a:prstGeom prst="ellipse">
            <a:avLst/>
          </a:prstGeom>
          <a:solidFill>
            <a:srgbClr val="161719"/>
          </a:solidFill>
          <a:ln w="12700">
            <a:solidFill>
              <a:srgbClr val="55DCD4"/>
            </a:solidFill>
            <a:prstDash val="solid"/>
          </a:ln>
        </p:spPr>
      </p:sp>
      <p:sp>
        <p:nvSpPr>
          <p:cNvPr id="20" name="Text 18"/>
          <p:cNvSpPr/>
          <p:nvPr/>
        </p:nvSpPr>
        <p:spPr>
          <a:xfrm>
            <a:off x="548640" y="3657600"/>
            <a:ext cx="384048" cy="384048"/>
          </a:xfrm>
          <a:prstGeom prst="rect">
            <a:avLst/>
          </a:prstGeom>
          <a:noFill/>
          <a:ln/>
        </p:spPr>
        <p:txBody>
          <a:bodyPr wrap="square" rtlCol="0" anchor="ctr"/>
          <a:lstStyle/>
          <a:p>
            <a:pPr algn="ctr" indent="0" marL="0">
              <a:buNone/>
            </a:pPr>
            <a:r>
              <a:rPr lang="en-US" sz="1300" b="1" dirty="0">
                <a:solidFill>
                  <a:srgbClr val="55DCD4"/>
                </a:solidFill>
                <a:latin typeface="Segoe UI" pitchFamily="34" charset="0"/>
                <a:ea typeface="Segoe UI" pitchFamily="34" charset="-122"/>
                <a:cs typeface="Segoe UI" pitchFamily="34" charset="-120"/>
              </a:rPr>
              <a:t>4</a:t>
            </a:r>
            <a:endParaRPr lang="en-US" sz="1300" dirty="0"/>
          </a:p>
        </p:txBody>
      </p:sp>
      <p:sp>
        <p:nvSpPr>
          <p:cNvPr id="21" name="Text 19"/>
          <p:cNvSpPr/>
          <p:nvPr/>
        </p:nvSpPr>
        <p:spPr>
          <a:xfrm>
            <a:off x="1097280" y="3593592"/>
            <a:ext cx="7406640" cy="512064"/>
          </a:xfrm>
          <a:prstGeom prst="rect">
            <a:avLst/>
          </a:prstGeom>
          <a:noFill/>
          <a:ln/>
        </p:spPr>
        <p:txBody>
          <a:bodyPr wrap="square" rtlCol="0" anchor="ctr"/>
          <a:lstStyle/>
          <a:p>
            <a:pPr indent="0" marL="0">
              <a:buNone/>
            </a:pPr>
            <a:r>
              <a:rPr lang="en-US" sz="1500" dirty="0">
                <a:solidFill>
                  <a:srgbClr val="F3F2EF"/>
                </a:solidFill>
                <a:latin typeface="Segoe UI" pitchFamily="34" charset="0"/>
                <a:ea typeface="Segoe UI" pitchFamily="34" charset="-122"/>
                <a:cs typeface="Segoe UI" pitchFamily="34" charset="-120"/>
              </a:rPr>
              <a:t>Confirmar → código NCZ-AAMMDD-XXXXXX</a:t>
            </a:r>
            <a:endParaRPr lang="en-US" sz="1500" dirty="0"/>
          </a:p>
        </p:txBody>
      </p:sp>
      <p:sp>
        <p:nvSpPr>
          <p:cNvPr id="22" name="Text 20"/>
          <p:cNvSpPr/>
          <p:nvPr/>
        </p:nvSpPr>
        <p:spPr>
          <a:xfrm>
            <a:off x="8595360" y="3593592"/>
            <a:ext cx="3063240" cy="512064"/>
          </a:xfrm>
          <a:prstGeom prst="rect">
            <a:avLst/>
          </a:prstGeom>
          <a:noFill/>
          <a:ln/>
        </p:spPr>
        <p:txBody>
          <a:bodyPr wrap="square" rtlCol="0" anchor="ctr"/>
          <a:lstStyle/>
          <a:p>
            <a:pPr algn="r" indent="0" marL="0">
              <a:buNone/>
            </a:pPr>
            <a:r>
              <a:rPr lang="en-US" sz="1200" dirty="0">
                <a:solidFill>
                  <a:srgbClr val="A594F2"/>
                </a:solidFill>
                <a:latin typeface="Consolas" pitchFamily="34" charset="0"/>
                <a:ea typeface="Consolas" pitchFamily="34" charset="-122"/>
                <a:cs typeface="Consolas" pitchFamily="34" charset="-120"/>
              </a:rPr>
              <a:t>order.created</a:t>
            </a:r>
            <a:endParaRPr lang="en-US" sz="1200" dirty="0"/>
          </a:p>
        </p:txBody>
      </p:sp>
      <p:sp>
        <p:nvSpPr>
          <p:cNvPr id="23" name="Shape 21"/>
          <p:cNvSpPr/>
          <p:nvPr/>
        </p:nvSpPr>
        <p:spPr>
          <a:xfrm>
            <a:off x="548640" y="4261104"/>
            <a:ext cx="384048" cy="384048"/>
          </a:xfrm>
          <a:prstGeom prst="ellipse">
            <a:avLst/>
          </a:prstGeom>
          <a:solidFill>
            <a:srgbClr val="161719"/>
          </a:solidFill>
          <a:ln w="12700">
            <a:solidFill>
              <a:srgbClr val="55DCD4"/>
            </a:solidFill>
            <a:prstDash val="solid"/>
          </a:ln>
        </p:spPr>
      </p:sp>
      <p:sp>
        <p:nvSpPr>
          <p:cNvPr id="24" name="Text 22"/>
          <p:cNvSpPr/>
          <p:nvPr/>
        </p:nvSpPr>
        <p:spPr>
          <a:xfrm>
            <a:off x="548640" y="4261104"/>
            <a:ext cx="384048" cy="384048"/>
          </a:xfrm>
          <a:prstGeom prst="rect">
            <a:avLst/>
          </a:prstGeom>
          <a:noFill/>
          <a:ln/>
        </p:spPr>
        <p:txBody>
          <a:bodyPr wrap="square" rtlCol="0" anchor="ctr"/>
          <a:lstStyle/>
          <a:p>
            <a:pPr algn="ctr" indent="0" marL="0">
              <a:buNone/>
            </a:pPr>
            <a:r>
              <a:rPr lang="en-US" sz="1300" b="1" dirty="0">
                <a:solidFill>
                  <a:srgbClr val="55DCD4"/>
                </a:solidFill>
                <a:latin typeface="Segoe UI" pitchFamily="34" charset="0"/>
                <a:ea typeface="Segoe UI" pitchFamily="34" charset="-122"/>
                <a:cs typeface="Segoe UI" pitchFamily="34" charset="-120"/>
              </a:rPr>
              <a:t>5</a:t>
            </a:r>
            <a:endParaRPr lang="en-US" sz="1300" dirty="0"/>
          </a:p>
        </p:txBody>
      </p:sp>
      <p:sp>
        <p:nvSpPr>
          <p:cNvPr id="25" name="Text 23"/>
          <p:cNvSpPr/>
          <p:nvPr/>
        </p:nvSpPr>
        <p:spPr>
          <a:xfrm>
            <a:off x="1097280" y="4197096"/>
            <a:ext cx="7406640" cy="512064"/>
          </a:xfrm>
          <a:prstGeom prst="rect">
            <a:avLst/>
          </a:prstGeom>
          <a:noFill/>
          <a:ln/>
        </p:spPr>
        <p:txBody>
          <a:bodyPr wrap="square" rtlCol="0" anchor="ctr"/>
          <a:lstStyle/>
          <a:p>
            <a:pPr indent="0" marL="0">
              <a:buNone/>
            </a:pPr>
            <a:r>
              <a:rPr lang="en-US" sz="1500" dirty="0">
                <a:solidFill>
                  <a:srgbClr val="F3F2EF"/>
                </a:solidFill>
                <a:latin typeface="Segoe UI" pitchFamily="34" charset="0"/>
                <a:ea typeface="Segoe UI" pitchFamily="34" charset="-122"/>
                <a:cs typeface="Segoe UI" pitchFamily="34" charset="-120"/>
              </a:rPr>
              <a:t>Pagar con 4000…0002 (rechazada) y 4242…4242 (aprobada)</a:t>
            </a:r>
            <a:endParaRPr lang="en-US" sz="1500" dirty="0"/>
          </a:p>
        </p:txBody>
      </p:sp>
      <p:sp>
        <p:nvSpPr>
          <p:cNvPr id="26" name="Text 24"/>
          <p:cNvSpPr/>
          <p:nvPr/>
        </p:nvSpPr>
        <p:spPr>
          <a:xfrm>
            <a:off x="8595360" y="4197096"/>
            <a:ext cx="3063240" cy="512064"/>
          </a:xfrm>
          <a:prstGeom prst="rect">
            <a:avLst/>
          </a:prstGeom>
          <a:noFill/>
          <a:ln/>
        </p:spPr>
        <p:txBody>
          <a:bodyPr wrap="square" rtlCol="0" anchor="ctr"/>
          <a:lstStyle/>
          <a:p>
            <a:pPr algn="r" indent="0" marL="0">
              <a:buNone/>
            </a:pPr>
            <a:r>
              <a:rPr lang="en-US" sz="1200" dirty="0">
                <a:solidFill>
                  <a:srgbClr val="A594F2"/>
                </a:solidFill>
                <a:latin typeface="Consolas" pitchFamily="34" charset="0"/>
                <a:ea typeface="Consolas" pitchFamily="34" charset="-122"/>
                <a:cs typeface="Consolas" pitchFamily="34" charset="-120"/>
              </a:rPr>
              <a:t>payment.simulated</a:t>
            </a:r>
            <a:endParaRPr lang="en-US" sz="1200" dirty="0"/>
          </a:p>
        </p:txBody>
      </p:sp>
      <p:sp>
        <p:nvSpPr>
          <p:cNvPr id="27" name="Shape 25"/>
          <p:cNvSpPr/>
          <p:nvPr/>
        </p:nvSpPr>
        <p:spPr>
          <a:xfrm>
            <a:off x="548640" y="4864608"/>
            <a:ext cx="384048" cy="384048"/>
          </a:xfrm>
          <a:prstGeom prst="ellipse">
            <a:avLst/>
          </a:prstGeom>
          <a:solidFill>
            <a:srgbClr val="161719"/>
          </a:solidFill>
          <a:ln w="12700">
            <a:solidFill>
              <a:srgbClr val="55DCD4"/>
            </a:solidFill>
            <a:prstDash val="solid"/>
          </a:ln>
        </p:spPr>
      </p:sp>
      <p:sp>
        <p:nvSpPr>
          <p:cNvPr id="28" name="Text 26"/>
          <p:cNvSpPr/>
          <p:nvPr/>
        </p:nvSpPr>
        <p:spPr>
          <a:xfrm>
            <a:off x="548640" y="4864608"/>
            <a:ext cx="384048" cy="384048"/>
          </a:xfrm>
          <a:prstGeom prst="rect">
            <a:avLst/>
          </a:prstGeom>
          <a:noFill/>
          <a:ln/>
        </p:spPr>
        <p:txBody>
          <a:bodyPr wrap="square" rtlCol="0" anchor="ctr"/>
          <a:lstStyle/>
          <a:p>
            <a:pPr algn="ctr" indent="0" marL="0">
              <a:buNone/>
            </a:pPr>
            <a:r>
              <a:rPr lang="en-US" sz="1300" b="1" dirty="0">
                <a:solidFill>
                  <a:srgbClr val="55DCD4"/>
                </a:solidFill>
                <a:latin typeface="Segoe UI" pitchFamily="34" charset="0"/>
                <a:ea typeface="Segoe UI" pitchFamily="34" charset="-122"/>
                <a:cs typeface="Segoe UI" pitchFamily="34" charset="-120"/>
              </a:rPr>
              <a:t>6</a:t>
            </a:r>
            <a:endParaRPr lang="en-US" sz="1300" dirty="0"/>
          </a:p>
        </p:txBody>
      </p:sp>
      <p:sp>
        <p:nvSpPr>
          <p:cNvPr id="29" name="Text 27"/>
          <p:cNvSpPr/>
          <p:nvPr/>
        </p:nvSpPr>
        <p:spPr>
          <a:xfrm>
            <a:off x="1097280" y="4800600"/>
            <a:ext cx="7406640" cy="512064"/>
          </a:xfrm>
          <a:prstGeom prst="rect">
            <a:avLst/>
          </a:prstGeom>
          <a:noFill/>
          <a:ln/>
        </p:spPr>
        <p:txBody>
          <a:bodyPr wrap="square" rtlCol="0" anchor="ctr"/>
          <a:lstStyle/>
          <a:p>
            <a:pPr indent="0" marL="0">
              <a:buNone/>
            </a:pPr>
            <a:r>
              <a:rPr lang="en-US" sz="1500" dirty="0">
                <a:solidFill>
                  <a:srgbClr val="F3F2EF"/>
                </a:solidFill>
                <a:latin typeface="Segoe UI" pitchFamily="34" charset="0"/>
                <a:ea typeface="Segoe UI" pitchFamily="34" charset="-122"/>
                <a:cs typeface="Segoe UI" pitchFamily="34" charset="-120"/>
              </a:rPr>
              <a:t>Back-office: pedido pagado → en preparación → enviado</a:t>
            </a:r>
            <a:endParaRPr lang="en-US" sz="1500" dirty="0"/>
          </a:p>
        </p:txBody>
      </p:sp>
      <p:sp>
        <p:nvSpPr>
          <p:cNvPr id="30" name="Text 28"/>
          <p:cNvSpPr/>
          <p:nvPr/>
        </p:nvSpPr>
        <p:spPr>
          <a:xfrm>
            <a:off x="8595360" y="4800600"/>
            <a:ext cx="3063240" cy="512064"/>
          </a:xfrm>
          <a:prstGeom prst="rect">
            <a:avLst/>
          </a:prstGeom>
          <a:noFill/>
          <a:ln/>
        </p:spPr>
        <p:txBody>
          <a:bodyPr wrap="square" rtlCol="0" anchor="ctr"/>
          <a:lstStyle/>
          <a:p>
            <a:pPr algn="r" indent="0" marL="0">
              <a:buNone/>
            </a:pPr>
            <a:r>
              <a:rPr lang="en-US" sz="1200" dirty="0">
                <a:solidFill>
                  <a:srgbClr val="A594F2"/>
                </a:solidFill>
                <a:latin typeface="Consolas" pitchFamily="34" charset="0"/>
                <a:ea typeface="Consolas" pitchFamily="34" charset="-122"/>
                <a:cs typeface="Consolas" pitchFamily="34" charset="-120"/>
              </a:rPr>
              <a:t>order.status_changed</a:t>
            </a:r>
            <a:endParaRPr lang="en-US" sz="1200" dirty="0"/>
          </a:p>
        </p:txBody>
      </p:sp>
      <p:sp>
        <p:nvSpPr>
          <p:cNvPr id="31" name="Shape 29"/>
          <p:cNvSpPr/>
          <p:nvPr/>
        </p:nvSpPr>
        <p:spPr>
          <a:xfrm>
            <a:off x="548640" y="5468112"/>
            <a:ext cx="384048" cy="384048"/>
          </a:xfrm>
          <a:prstGeom prst="ellipse">
            <a:avLst/>
          </a:prstGeom>
          <a:solidFill>
            <a:srgbClr val="161719"/>
          </a:solidFill>
          <a:ln w="12700">
            <a:solidFill>
              <a:srgbClr val="55DCD4"/>
            </a:solidFill>
            <a:prstDash val="solid"/>
          </a:ln>
        </p:spPr>
      </p:sp>
      <p:sp>
        <p:nvSpPr>
          <p:cNvPr id="32" name="Text 30"/>
          <p:cNvSpPr/>
          <p:nvPr/>
        </p:nvSpPr>
        <p:spPr>
          <a:xfrm>
            <a:off x="548640" y="5468112"/>
            <a:ext cx="384048" cy="384048"/>
          </a:xfrm>
          <a:prstGeom prst="rect">
            <a:avLst/>
          </a:prstGeom>
          <a:noFill/>
          <a:ln/>
        </p:spPr>
        <p:txBody>
          <a:bodyPr wrap="square" rtlCol="0" anchor="ctr"/>
          <a:lstStyle/>
          <a:p>
            <a:pPr algn="ctr" indent="0" marL="0">
              <a:buNone/>
            </a:pPr>
            <a:r>
              <a:rPr lang="en-US" sz="1300" b="1" dirty="0">
                <a:solidFill>
                  <a:srgbClr val="55DCD4"/>
                </a:solidFill>
                <a:latin typeface="Segoe UI" pitchFamily="34" charset="0"/>
                <a:ea typeface="Segoe UI" pitchFamily="34" charset="-122"/>
                <a:cs typeface="Segoe UI" pitchFamily="34" charset="-120"/>
              </a:rPr>
              <a:t>7</a:t>
            </a:r>
            <a:endParaRPr lang="en-US" sz="1300" dirty="0"/>
          </a:p>
        </p:txBody>
      </p:sp>
      <p:sp>
        <p:nvSpPr>
          <p:cNvPr id="33" name="Text 31"/>
          <p:cNvSpPr/>
          <p:nvPr/>
        </p:nvSpPr>
        <p:spPr>
          <a:xfrm>
            <a:off x="1097280" y="5404104"/>
            <a:ext cx="7406640" cy="512064"/>
          </a:xfrm>
          <a:prstGeom prst="rect">
            <a:avLst/>
          </a:prstGeom>
          <a:noFill/>
          <a:ln/>
        </p:spPr>
        <p:txBody>
          <a:bodyPr wrap="square" rtlCol="0" anchor="ctr"/>
          <a:lstStyle/>
          <a:p>
            <a:pPr indent="0" marL="0">
              <a:buNone/>
            </a:pPr>
            <a:r>
              <a:rPr lang="en-US" sz="1500" dirty="0">
                <a:solidFill>
                  <a:srgbClr val="F3F2EF"/>
                </a:solidFill>
                <a:latin typeface="Segoe UI" pitchFamily="34" charset="0"/>
                <a:ea typeface="Segoe UI" pitchFamily="34" charset="-122"/>
                <a:cs typeface="Segoe UI" pitchFamily="34" charset="-120"/>
              </a:rPr>
              <a:t>Soporte con el código del pedido; ver eventos y embudo</a:t>
            </a:r>
            <a:endParaRPr lang="en-US" sz="1500" dirty="0"/>
          </a:p>
        </p:txBody>
      </p:sp>
      <p:sp>
        <p:nvSpPr>
          <p:cNvPr id="34" name="Text 32"/>
          <p:cNvSpPr/>
          <p:nvPr/>
        </p:nvSpPr>
        <p:spPr>
          <a:xfrm>
            <a:off x="8595360" y="5404104"/>
            <a:ext cx="3063240" cy="512064"/>
          </a:xfrm>
          <a:prstGeom prst="rect">
            <a:avLst/>
          </a:prstGeom>
          <a:noFill/>
          <a:ln/>
        </p:spPr>
        <p:txBody>
          <a:bodyPr wrap="square" rtlCol="0" anchor="ctr"/>
          <a:lstStyle/>
          <a:p>
            <a:pPr algn="r" indent="0" marL="0">
              <a:buNone/>
            </a:pPr>
            <a:r>
              <a:rPr lang="en-US" sz="1200" dirty="0">
                <a:solidFill>
                  <a:srgbClr val="A594F2"/>
                </a:solidFill>
                <a:latin typeface="Consolas" pitchFamily="34" charset="0"/>
                <a:ea typeface="Consolas" pitchFamily="34" charset="-122"/>
                <a:cs typeface="Consolas" pitchFamily="34" charset="-120"/>
              </a:rPr>
              <a:t>support.requested</a:t>
            </a:r>
            <a:endParaRPr lang="en-US" sz="1200" dirty="0"/>
          </a:p>
        </p:txBody>
      </p:sp>
      <p:sp>
        <p:nvSpPr>
          <p:cNvPr id="35" name="Text 33"/>
          <p:cNvSpPr/>
          <p:nvPr/>
        </p:nvSpPr>
        <p:spPr>
          <a:xfrm>
            <a:off x="502920" y="6035040"/>
            <a:ext cx="11155680" cy="320040"/>
          </a:xfrm>
          <a:prstGeom prst="rect">
            <a:avLst/>
          </a:prstGeom>
          <a:noFill/>
          <a:ln/>
        </p:spPr>
        <p:txBody>
          <a:bodyPr wrap="square" rtlCol="0" anchor="ctr"/>
          <a:lstStyle/>
          <a:p>
            <a:pPr indent="0" marL="0">
              <a:buNone/>
            </a:pPr>
            <a:r>
              <a:rPr lang="en-US" sz="1200" dirty="0">
                <a:solidFill>
                  <a:srgbClr val="F3B36B"/>
                </a:solidFill>
                <a:latin typeface="Segoe UI" pitchFamily="34" charset="0"/>
                <a:ea typeface="Segoe UI" pitchFamily="34" charset="-122"/>
                <a:cs typeface="Segoe UI" pitchFamily="34" charset="-120"/>
              </a:rPr>
              <a:t>URL: https://algo.free.je · Back-office: /admin.html · admin@noctiluz.test</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A0A0C"/>
        </a:solidFill>
      </p:bgPr>
    </p:bg>
    <p:spTree>
      <p:nvGrpSpPr>
        <p:cNvPr id="1" name=""/>
        <p:cNvGrpSpPr/>
        <p:nvPr/>
      </p:nvGrpSpPr>
      <p:grpSpPr>
        <a:xfrm>
          <a:off x="0" y="0"/>
          <a:ext cx="0" cy="0"/>
          <a:chOff x="0" y="0"/>
          <a:chExt cx="0" cy="0"/>
        </a:xfrm>
      </p:grpSpPr>
      <p:sp>
        <p:nvSpPr>
          <p:cNvPr id="2" name="Shape 0"/>
          <p:cNvSpPr/>
          <p:nvPr/>
        </p:nvSpPr>
        <p:spPr>
          <a:xfrm>
            <a:off x="502920" y="566928"/>
            <a:ext cx="109728" cy="109728"/>
          </a:xfrm>
          <a:prstGeom prst="ellipse">
            <a:avLst/>
          </a:prstGeom>
          <a:solidFill>
            <a:srgbClr val="55DCD4"/>
          </a:solidFill>
          <a:ln w="12700">
            <a:solidFill>
              <a:srgbClr val="55DCD4"/>
            </a:solidFill>
            <a:prstDash val="solid"/>
          </a:ln>
        </p:spPr>
      </p:sp>
      <p:sp>
        <p:nvSpPr>
          <p:cNvPr id="3" name="Text 1"/>
          <p:cNvSpPr/>
          <p:nvPr/>
        </p:nvSpPr>
        <p:spPr>
          <a:xfrm>
            <a:off x="685800" y="457200"/>
            <a:ext cx="2743200" cy="320040"/>
          </a:xfrm>
          <a:prstGeom prst="rect">
            <a:avLst/>
          </a:prstGeom>
          <a:noFill/>
          <a:ln/>
        </p:spPr>
        <p:txBody>
          <a:bodyPr wrap="square" rtlCol="0" anchor="ctr"/>
          <a:lstStyle/>
          <a:p>
            <a:pPr indent="0" marL="0">
              <a:buNone/>
            </a:pPr>
            <a:r>
              <a:rPr lang="en-US" sz="1200" b="1" spc="200" kern="0" dirty="0">
                <a:solidFill>
                  <a:srgbClr val="A3A2A9"/>
                </a:solidFill>
                <a:latin typeface="Segoe UI" pitchFamily="34" charset="0"/>
                <a:ea typeface="Segoe UI" pitchFamily="34" charset="-122"/>
                <a:cs typeface="Segoe UI" pitchFamily="34" charset="-120"/>
              </a:rPr>
              <a:t>NOCTILUZ</a:t>
            </a:r>
            <a:endParaRPr lang="en-US" sz="1200" dirty="0"/>
          </a:p>
        </p:txBody>
      </p:sp>
      <p:sp>
        <p:nvSpPr>
          <p:cNvPr id="4" name="Text 2"/>
          <p:cNvSpPr/>
          <p:nvPr/>
        </p:nvSpPr>
        <p:spPr>
          <a:xfrm>
            <a:off x="10332720" y="457200"/>
            <a:ext cx="1371600" cy="320040"/>
          </a:xfrm>
          <a:prstGeom prst="rect">
            <a:avLst/>
          </a:prstGeom>
          <a:noFill/>
          <a:ln/>
        </p:spPr>
        <p:txBody>
          <a:bodyPr wrap="square" rtlCol="0" anchor="ctr"/>
          <a:lstStyle/>
          <a:p>
            <a:pPr algn="r" indent="0" marL="0">
              <a:buNone/>
            </a:pPr>
            <a:r>
              <a:rPr lang="en-US" sz="1100" dirty="0">
                <a:solidFill>
                  <a:srgbClr val="A3A2A9"/>
                </a:solidFill>
                <a:latin typeface="Segoe UI" pitchFamily="34" charset="0"/>
                <a:ea typeface="Segoe UI" pitchFamily="34" charset="-122"/>
                <a:cs typeface="Segoe UI" pitchFamily="34" charset="-120"/>
              </a:rPr>
              <a:t>4 / 6</a:t>
            </a:r>
            <a:endParaRPr lang="en-US" sz="1100" dirty="0"/>
          </a:p>
        </p:txBody>
      </p:sp>
      <p:sp>
        <p:nvSpPr>
          <p:cNvPr id="5" name="Text 3"/>
          <p:cNvSpPr/>
          <p:nvPr/>
        </p:nvSpPr>
        <p:spPr>
          <a:xfrm>
            <a:off x="502920" y="868680"/>
            <a:ext cx="11155680" cy="731520"/>
          </a:xfrm>
          <a:prstGeom prst="rect">
            <a:avLst/>
          </a:prstGeom>
          <a:noFill/>
          <a:ln/>
        </p:spPr>
        <p:txBody>
          <a:bodyPr wrap="square" rtlCol="0" anchor="ctr"/>
          <a:lstStyle/>
          <a:p>
            <a:pPr indent="0" marL="0">
              <a:buNone/>
            </a:pPr>
            <a:r>
              <a:rPr lang="en-US" sz="3000" b="1" dirty="0">
                <a:solidFill>
                  <a:srgbClr val="F3F2EF"/>
                </a:solidFill>
                <a:latin typeface="Segoe UI" pitchFamily="34" charset="0"/>
                <a:ea typeface="Segoe UI" pitchFamily="34" charset="-122"/>
                <a:cs typeface="Segoe UI" pitchFamily="34" charset="-120"/>
              </a:rPr>
              <a:t>Evidencias técnicas</a:t>
            </a:r>
            <a:endParaRPr lang="en-US" sz="3000" dirty="0"/>
          </a:p>
        </p:txBody>
      </p:sp>
      <p:sp>
        <p:nvSpPr>
          <p:cNvPr id="6" name="Text 4"/>
          <p:cNvSpPr/>
          <p:nvPr/>
        </p:nvSpPr>
        <p:spPr>
          <a:xfrm>
            <a:off x="502920" y="6400800"/>
            <a:ext cx="7315200" cy="274320"/>
          </a:xfrm>
          <a:prstGeom prst="rect">
            <a:avLst/>
          </a:prstGeom>
          <a:noFill/>
          <a:ln/>
        </p:spPr>
        <p:txBody>
          <a:bodyPr wrap="square" rtlCol="0" anchor="ctr"/>
          <a:lstStyle/>
          <a:p>
            <a:pPr indent="0" marL="0">
              <a:buNone/>
            </a:pPr>
            <a:r>
              <a:rPr lang="en-US" sz="900" dirty="0">
                <a:solidFill>
                  <a:srgbClr val="6E6E75"/>
                </a:solidFill>
                <a:latin typeface="Segoe UI" pitchFamily="34" charset="0"/>
                <a:ea typeface="Segoe UI" pitchFamily="34" charset="-122"/>
                <a:cs typeface="Segoe UI" pitchFamily="34" charset="-120"/>
              </a:rPr>
              <a:t>Prototipo académico UCAM · sin actividad comercial real</a:t>
            </a:r>
            <a:endParaRPr lang="en-US" sz="900" dirty="0"/>
          </a:p>
        </p:txBody>
      </p:sp>
      <p:sp>
        <p:nvSpPr>
          <p:cNvPr id="7" name="Shape 5"/>
          <p:cNvSpPr/>
          <p:nvPr/>
        </p:nvSpPr>
        <p:spPr>
          <a:xfrm>
            <a:off x="502920" y="1737360"/>
            <a:ext cx="6720840" cy="4160520"/>
          </a:xfrm>
          <a:prstGeom prst="rect">
            <a:avLst/>
          </a:prstGeom>
          <a:solidFill>
            <a:srgbClr val="FFFFFF"/>
          </a:solidFill>
          <a:ln w="12700">
            <a:solidFill>
              <a:srgbClr val="2A2B31"/>
            </a:solidFill>
            <a:prstDash val="solid"/>
          </a:ln>
        </p:spPr>
      </p:sp>
      <p:pic>
        <p:nvPicPr>
          <p:cNvPr id="8" name="Image 0" descr="C:/Users/FX517/Documents/Trabajo de clase/Tarea 1 SDE/entrega_final/docs/modelo_datos.png">    </p:cNvPr>
          <p:cNvPicPr>
            <a:picLocks noChangeAspect="1"/>
          </p:cNvPicPr>
          <p:nvPr/>
        </p:nvPicPr>
        <p:blipFill>
          <a:blip r:embed="rId1"/>
          <a:stretch>
            <a:fillRect/>
          </a:stretch>
        </p:blipFill>
        <p:spPr>
          <a:xfrm>
            <a:off x="566928" y="1828800"/>
            <a:ext cx="6583680" cy="3840480"/>
          </a:xfrm>
          <a:prstGeom prst="rect">
            <a:avLst/>
          </a:prstGeom>
        </p:spPr>
      </p:pic>
      <p:sp>
        <p:nvSpPr>
          <p:cNvPr id="9" name="Text 6"/>
          <p:cNvSpPr/>
          <p:nvPr/>
        </p:nvSpPr>
        <p:spPr>
          <a:xfrm>
            <a:off x="502920" y="5943600"/>
            <a:ext cx="6720840" cy="320040"/>
          </a:xfrm>
          <a:prstGeom prst="rect">
            <a:avLst/>
          </a:prstGeom>
          <a:noFill/>
          <a:ln/>
        </p:spPr>
        <p:txBody>
          <a:bodyPr wrap="square" rtlCol="0" anchor="ctr"/>
          <a:lstStyle/>
          <a:p>
            <a:pPr algn="ctr" indent="0" marL="0">
              <a:buNone/>
            </a:pPr>
            <a:r>
              <a:rPr lang="en-US" sz="1100" dirty="0">
                <a:solidFill>
                  <a:srgbClr val="A3A2A9"/>
                </a:solidFill>
                <a:latin typeface="Segoe UI" pitchFamily="34" charset="0"/>
                <a:ea typeface="Segoe UI" pitchFamily="34" charset="-122"/>
                <a:cs typeface="Segoe UI" pitchFamily="34" charset="-120"/>
              </a:rPr>
              <a:t>Modelo de datos: maestros · transaccionales · eventos</a:t>
            </a:r>
            <a:endParaRPr lang="en-US" sz="1100" dirty="0"/>
          </a:p>
        </p:txBody>
      </p:sp>
      <p:sp>
        <p:nvSpPr>
          <p:cNvPr id="10" name="Shape 7"/>
          <p:cNvSpPr/>
          <p:nvPr/>
        </p:nvSpPr>
        <p:spPr>
          <a:xfrm>
            <a:off x="7452360" y="1737360"/>
            <a:ext cx="4206240" cy="1325880"/>
          </a:xfrm>
          <a:prstGeom prst="rect">
            <a:avLst/>
          </a:prstGeom>
          <a:solidFill>
            <a:srgbClr val="161719"/>
          </a:solidFill>
          <a:ln w="12700">
            <a:solidFill>
              <a:srgbClr val="2A2B31"/>
            </a:solidFill>
            <a:prstDash val="solid"/>
          </a:ln>
        </p:spPr>
      </p:sp>
      <p:sp>
        <p:nvSpPr>
          <p:cNvPr id="11" name="Shape 8"/>
          <p:cNvSpPr/>
          <p:nvPr/>
        </p:nvSpPr>
        <p:spPr>
          <a:xfrm>
            <a:off x="7452360" y="1737360"/>
            <a:ext cx="54864" cy="1325880"/>
          </a:xfrm>
          <a:prstGeom prst="rect">
            <a:avLst/>
          </a:prstGeom>
          <a:solidFill>
            <a:srgbClr val="BFE86E"/>
          </a:solidFill>
          <a:ln w="12700">
            <a:solidFill>
              <a:srgbClr val="BFE86E"/>
            </a:solidFill>
            <a:prstDash val="solid"/>
          </a:ln>
        </p:spPr>
      </p:sp>
      <p:sp>
        <p:nvSpPr>
          <p:cNvPr id="12" name="Text 9"/>
          <p:cNvSpPr/>
          <p:nvPr/>
        </p:nvSpPr>
        <p:spPr>
          <a:xfrm>
            <a:off x="7653528" y="1847088"/>
            <a:ext cx="3886200" cy="411480"/>
          </a:xfrm>
          <a:prstGeom prst="rect">
            <a:avLst/>
          </a:prstGeom>
          <a:noFill/>
          <a:ln/>
        </p:spPr>
        <p:txBody>
          <a:bodyPr wrap="square" rtlCol="0" anchor="ctr"/>
          <a:lstStyle/>
          <a:p>
            <a:pPr indent="0" marL="0">
              <a:buNone/>
            </a:pPr>
            <a:r>
              <a:rPr lang="en-US" sz="1500" b="1" dirty="0">
                <a:solidFill>
                  <a:srgbClr val="BFE86E"/>
                </a:solidFill>
                <a:latin typeface="Segoe UI" pitchFamily="34" charset="0"/>
                <a:ea typeface="Segoe UI" pitchFamily="34" charset="-122"/>
                <a:cs typeface="Segoe UI" pitchFamily="34" charset="-120"/>
              </a:rPr>
              <a:t>Datos persistidos</a:t>
            </a:r>
            <a:endParaRPr lang="en-US" sz="1500" dirty="0"/>
          </a:p>
        </p:txBody>
      </p:sp>
      <p:sp>
        <p:nvSpPr>
          <p:cNvPr id="13" name="Text 10"/>
          <p:cNvSpPr/>
          <p:nvPr/>
        </p:nvSpPr>
        <p:spPr>
          <a:xfrm>
            <a:off x="7653528" y="2286000"/>
            <a:ext cx="3840480" cy="640080"/>
          </a:xfrm>
          <a:prstGeom prst="rect">
            <a:avLst/>
          </a:prstGeom>
          <a:noFill/>
          <a:ln/>
        </p:spPr>
        <p:txBody>
          <a:bodyPr wrap="square" rtlCol="0" anchor="t"/>
          <a:lstStyle/>
          <a:p>
            <a:pPr marL="177800" indent="-177800">
              <a:spcAft>
                <a:spcPts val="500"/>
              </a:spcAft>
              <a:buSzPct val="100000"/>
              <a:buChar char="•"/>
            </a:pPr>
            <a:r>
              <a:rPr lang="en-US" sz="1200" dirty="0">
                <a:solidFill>
                  <a:srgbClr val="F3F2EF"/>
                </a:solidFill>
                <a:latin typeface="Segoe UI" pitchFamily="34" charset="0"/>
                <a:ea typeface="Segoe UI" pitchFamily="34" charset="-122"/>
                <a:cs typeface="Segoe UI" pitchFamily="34" charset="-120"/>
              </a:rPr>
              <a:t>MySQL · 15 tablas con claves foráneas</a:t>
            </a:r>
            <a:endParaRPr lang="en-US" sz="1200" dirty="0"/>
          </a:p>
          <a:p>
            <a:pPr marL="177800" indent="-177800">
              <a:spcAft>
                <a:spcPts val="500"/>
              </a:spcAft>
              <a:buSzPct val="100000"/>
              <a:buChar char="•"/>
            </a:pPr>
            <a:r>
              <a:rPr lang="en-US" sz="1200" dirty="0">
                <a:solidFill>
                  <a:srgbClr val="F3F2EF"/>
                </a:solidFill>
                <a:latin typeface="Segoe UI" pitchFamily="34" charset="0"/>
                <a:ea typeface="Segoe UI" pitchFamily="34" charset="-122"/>
                <a:cs typeface="Segoe UI" pitchFamily="34" charset="-120"/>
              </a:rPr>
              <a:t>Pedido = 1 transacción (stock + historial + evento)</a:t>
            </a:r>
            <a:endParaRPr lang="en-US" sz="1200" dirty="0"/>
          </a:p>
        </p:txBody>
      </p:sp>
      <p:sp>
        <p:nvSpPr>
          <p:cNvPr id="14" name="Shape 11"/>
          <p:cNvSpPr/>
          <p:nvPr/>
        </p:nvSpPr>
        <p:spPr>
          <a:xfrm>
            <a:off x="7452360" y="3200400"/>
            <a:ext cx="4206240" cy="1417320"/>
          </a:xfrm>
          <a:prstGeom prst="rect">
            <a:avLst/>
          </a:prstGeom>
          <a:solidFill>
            <a:srgbClr val="161719"/>
          </a:solidFill>
          <a:ln w="12700">
            <a:solidFill>
              <a:srgbClr val="2A2B31"/>
            </a:solidFill>
            <a:prstDash val="solid"/>
          </a:ln>
        </p:spPr>
      </p:sp>
      <p:sp>
        <p:nvSpPr>
          <p:cNvPr id="15" name="Shape 12"/>
          <p:cNvSpPr/>
          <p:nvPr/>
        </p:nvSpPr>
        <p:spPr>
          <a:xfrm>
            <a:off x="7452360" y="3200400"/>
            <a:ext cx="54864" cy="1417320"/>
          </a:xfrm>
          <a:prstGeom prst="rect">
            <a:avLst/>
          </a:prstGeom>
          <a:solidFill>
            <a:srgbClr val="A594F2"/>
          </a:solidFill>
          <a:ln w="12700">
            <a:solidFill>
              <a:srgbClr val="A594F2"/>
            </a:solidFill>
            <a:prstDash val="solid"/>
          </a:ln>
        </p:spPr>
      </p:sp>
      <p:sp>
        <p:nvSpPr>
          <p:cNvPr id="16" name="Text 13"/>
          <p:cNvSpPr/>
          <p:nvPr/>
        </p:nvSpPr>
        <p:spPr>
          <a:xfrm>
            <a:off x="7653528" y="3310128"/>
            <a:ext cx="3886200" cy="411480"/>
          </a:xfrm>
          <a:prstGeom prst="rect">
            <a:avLst/>
          </a:prstGeom>
          <a:noFill/>
          <a:ln/>
        </p:spPr>
        <p:txBody>
          <a:bodyPr wrap="square" rtlCol="0" anchor="ctr"/>
          <a:lstStyle/>
          <a:p>
            <a:pPr indent="0" marL="0">
              <a:buNone/>
            </a:pPr>
            <a:r>
              <a:rPr lang="en-US" sz="1500" b="1" dirty="0">
                <a:solidFill>
                  <a:srgbClr val="A594F2"/>
                </a:solidFill>
                <a:latin typeface="Segoe UI" pitchFamily="34" charset="0"/>
                <a:ea typeface="Segoe UI" pitchFamily="34" charset="-122"/>
                <a:cs typeface="Segoe UI" pitchFamily="34" charset="-120"/>
              </a:rPr>
              <a:t>Eventos</a:t>
            </a:r>
            <a:endParaRPr lang="en-US" sz="1500" dirty="0"/>
          </a:p>
        </p:txBody>
      </p:sp>
      <p:sp>
        <p:nvSpPr>
          <p:cNvPr id="17" name="Text 14"/>
          <p:cNvSpPr/>
          <p:nvPr/>
        </p:nvSpPr>
        <p:spPr>
          <a:xfrm>
            <a:off x="7653528" y="3749040"/>
            <a:ext cx="3840480" cy="731520"/>
          </a:xfrm>
          <a:prstGeom prst="rect">
            <a:avLst/>
          </a:prstGeom>
          <a:noFill/>
          <a:ln/>
        </p:spPr>
        <p:txBody>
          <a:bodyPr wrap="square" rtlCol="0" anchor="t"/>
          <a:lstStyle/>
          <a:p>
            <a:pPr marL="177800" indent="-177800">
              <a:spcAft>
                <a:spcPts val="500"/>
              </a:spcAft>
              <a:buSzPct val="100000"/>
              <a:buChar char="•"/>
            </a:pPr>
            <a:r>
              <a:rPr lang="en-US" sz="1200" dirty="0">
                <a:solidFill>
                  <a:srgbClr val="F3F2EF"/>
                </a:solidFill>
                <a:latin typeface="Segoe UI" pitchFamily="34" charset="0"/>
                <a:ea typeface="Segoe UI" pitchFamily="34" charset="-122"/>
                <a:cs typeface="Segoe UI" pitchFamily="34" charset="-120"/>
              </a:rPr>
              <a:t>Tabla eventos: uuid, tipo, origen, sesión, datos JSON</a:t>
            </a:r>
            <a:endParaRPr lang="en-US" sz="1200" dirty="0"/>
          </a:p>
          <a:p>
            <a:pPr marL="177800" indent="-177800">
              <a:spcAft>
                <a:spcPts val="500"/>
              </a:spcAft>
              <a:buSzPct val="100000"/>
              <a:buChar char="•"/>
            </a:pPr>
            <a:r>
              <a:rPr lang="en-US" sz="1200" dirty="0">
                <a:solidFill>
                  <a:srgbClr val="F3F2EF"/>
                </a:solidFill>
                <a:latin typeface="Segoe UI" pitchFamily="34" charset="0"/>
                <a:ea typeface="Segoe UI" pitchFamily="34" charset="-122"/>
                <a:cs typeface="Segoe UI" pitchFamily="34" charset="-120"/>
              </a:rPr>
              <a:t>Exportación CSV/JSON · lectura por cursor desde_id</a:t>
            </a:r>
            <a:endParaRPr lang="en-US" sz="1200" dirty="0"/>
          </a:p>
        </p:txBody>
      </p:sp>
      <p:sp>
        <p:nvSpPr>
          <p:cNvPr id="18" name="Shape 15"/>
          <p:cNvSpPr/>
          <p:nvPr/>
        </p:nvSpPr>
        <p:spPr>
          <a:xfrm>
            <a:off x="7452360" y="4754880"/>
            <a:ext cx="4206240" cy="1143000"/>
          </a:xfrm>
          <a:prstGeom prst="rect">
            <a:avLst/>
          </a:prstGeom>
          <a:solidFill>
            <a:srgbClr val="161719"/>
          </a:solidFill>
          <a:ln w="12700">
            <a:solidFill>
              <a:srgbClr val="2A2B31"/>
            </a:solidFill>
            <a:prstDash val="solid"/>
          </a:ln>
        </p:spPr>
      </p:sp>
      <p:sp>
        <p:nvSpPr>
          <p:cNvPr id="19" name="Shape 16"/>
          <p:cNvSpPr/>
          <p:nvPr/>
        </p:nvSpPr>
        <p:spPr>
          <a:xfrm>
            <a:off x="7452360" y="4754880"/>
            <a:ext cx="54864" cy="1143000"/>
          </a:xfrm>
          <a:prstGeom prst="rect">
            <a:avLst/>
          </a:prstGeom>
          <a:solidFill>
            <a:srgbClr val="F3B36B"/>
          </a:solidFill>
          <a:ln w="12700">
            <a:solidFill>
              <a:srgbClr val="F3B36B"/>
            </a:solidFill>
            <a:prstDash val="solid"/>
          </a:ln>
        </p:spPr>
      </p:sp>
      <p:sp>
        <p:nvSpPr>
          <p:cNvPr id="20" name="Text 17"/>
          <p:cNvSpPr/>
          <p:nvPr/>
        </p:nvSpPr>
        <p:spPr>
          <a:xfrm>
            <a:off x="7653528" y="4864608"/>
            <a:ext cx="3886200" cy="411480"/>
          </a:xfrm>
          <a:prstGeom prst="rect">
            <a:avLst/>
          </a:prstGeom>
          <a:noFill/>
          <a:ln/>
        </p:spPr>
        <p:txBody>
          <a:bodyPr wrap="square" rtlCol="0" anchor="ctr"/>
          <a:lstStyle/>
          <a:p>
            <a:pPr indent="0" marL="0">
              <a:buNone/>
            </a:pPr>
            <a:r>
              <a:rPr lang="en-US" sz="1500" b="1" dirty="0">
                <a:solidFill>
                  <a:srgbClr val="F3B36B"/>
                </a:solidFill>
                <a:latin typeface="Segoe UI" pitchFamily="34" charset="0"/>
                <a:ea typeface="Segoe UI" pitchFamily="34" charset="-122"/>
                <a:cs typeface="Segoe UI" pitchFamily="34" charset="-120"/>
              </a:rPr>
              <a:t>Métricas</a:t>
            </a:r>
            <a:endParaRPr lang="en-US" sz="1500" dirty="0"/>
          </a:p>
        </p:txBody>
      </p:sp>
      <p:sp>
        <p:nvSpPr>
          <p:cNvPr id="21" name="Text 18"/>
          <p:cNvSpPr/>
          <p:nvPr/>
        </p:nvSpPr>
        <p:spPr>
          <a:xfrm>
            <a:off x="7653528" y="5303520"/>
            <a:ext cx="3840480" cy="457200"/>
          </a:xfrm>
          <a:prstGeom prst="rect">
            <a:avLst/>
          </a:prstGeom>
          <a:noFill/>
          <a:ln/>
        </p:spPr>
        <p:txBody>
          <a:bodyPr wrap="square" rtlCol="0" anchor="t"/>
          <a:lstStyle/>
          <a:p>
            <a:pPr marL="177800" indent="-177800">
              <a:spcAft>
                <a:spcPts val="500"/>
              </a:spcAft>
              <a:buSzPct val="100000"/>
              <a:buChar char="•"/>
            </a:pPr>
            <a:r>
              <a:rPr lang="en-US" sz="1200" dirty="0">
                <a:solidFill>
                  <a:srgbClr val="F3F2EF"/>
                </a:solidFill>
                <a:latin typeface="Segoe UI" pitchFamily="34" charset="0"/>
                <a:ea typeface="Segoe UI" pitchFamily="34" charset="-122"/>
                <a:cs typeface="Segoe UI" pitchFamily="34" charset="-120"/>
              </a:rPr>
              <a:t>Embudo por sesión, facturación, ticket medio, stock bajo</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A0A0C"/>
        </a:solidFill>
      </p:bgPr>
    </p:bg>
    <p:spTree>
      <p:nvGrpSpPr>
        <p:cNvPr id="1" name=""/>
        <p:cNvGrpSpPr/>
        <p:nvPr/>
      </p:nvGrpSpPr>
      <p:grpSpPr>
        <a:xfrm>
          <a:off x="0" y="0"/>
          <a:ext cx="0" cy="0"/>
          <a:chOff x="0" y="0"/>
          <a:chExt cx="0" cy="0"/>
        </a:xfrm>
      </p:grpSpPr>
      <p:sp>
        <p:nvSpPr>
          <p:cNvPr id="2" name="Shape 0"/>
          <p:cNvSpPr/>
          <p:nvPr/>
        </p:nvSpPr>
        <p:spPr>
          <a:xfrm>
            <a:off x="502920" y="566928"/>
            <a:ext cx="109728" cy="109728"/>
          </a:xfrm>
          <a:prstGeom prst="ellipse">
            <a:avLst/>
          </a:prstGeom>
          <a:solidFill>
            <a:srgbClr val="55DCD4"/>
          </a:solidFill>
          <a:ln w="12700">
            <a:solidFill>
              <a:srgbClr val="55DCD4"/>
            </a:solidFill>
            <a:prstDash val="solid"/>
          </a:ln>
        </p:spPr>
      </p:sp>
      <p:sp>
        <p:nvSpPr>
          <p:cNvPr id="3" name="Text 1"/>
          <p:cNvSpPr/>
          <p:nvPr/>
        </p:nvSpPr>
        <p:spPr>
          <a:xfrm>
            <a:off x="685800" y="457200"/>
            <a:ext cx="2743200" cy="320040"/>
          </a:xfrm>
          <a:prstGeom prst="rect">
            <a:avLst/>
          </a:prstGeom>
          <a:noFill/>
          <a:ln/>
        </p:spPr>
        <p:txBody>
          <a:bodyPr wrap="square" rtlCol="0" anchor="ctr"/>
          <a:lstStyle/>
          <a:p>
            <a:pPr indent="0" marL="0">
              <a:buNone/>
            </a:pPr>
            <a:r>
              <a:rPr lang="en-US" sz="1200" b="1" spc="200" kern="0" dirty="0">
                <a:solidFill>
                  <a:srgbClr val="A3A2A9"/>
                </a:solidFill>
                <a:latin typeface="Segoe UI" pitchFamily="34" charset="0"/>
                <a:ea typeface="Segoe UI" pitchFamily="34" charset="-122"/>
                <a:cs typeface="Segoe UI" pitchFamily="34" charset="-120"/>
              </a:rPr>
              <a:t>NOCTILUZ</a:t>
            </a:r>
            <a:endParaRPr lang="en-US" sz="1200" dirty="0"/>
          </a:p>
        </p:txBody>
      </p:sp>
      <p:sp>
        <p:nvSpPr>
          <p:cNvPr id="4" name="Text 2"/>
          <p:cNvSpPr/>
          <p:nvPr/>
        </p:nvSpPr>
        <p:spPr>
          <a:xfrm>
            <a:off x="10332720" y="457200"/>
            <a:ext cx="1371600" cy="320040"/>
          </a:xfrm>
          <a:prstGeom prst="rect">
            <a:avLst/>
          </a:prstGeom>
          <a:noFill/>
          <a:ln/>
        </p:spPr>
        <p:txBody>
          <a:bodyPr wrap="square" rtlCol="0" anchor="ctr"/>
          <a:lstStyle/>
          <a:p>
            <a:pPr algn="r" indent="0" marL="0">
              <a:buNone/>
            </a:pPr>
            <a:r>
              <a:rPr lang="en-US" sz="1100" dirty="0">
                <a:solidFill>
                  <a:srgbClr val="A3A2A9"/>
                </a:solidFill>
                <a:latin typeface="Segoe UI" pitchFamily="34" charset="0"/>
                <a:ea typeface="Segoe UI" pitchFamily="34" charset="-122"/>
                <a:cs typeface="Segoe UI" pitchFamily="34" charset="-120"/>
              </a:rPr>
              <a:t>5 / 6</a:t>
            </a:r>
            <a:endParaRPr lang="en-US" sz="1100" dirty="0"/>
          </a:p>
        </p:txBody>
      </p:sp>
      <p:sp>
        <p:nvSpPr>
          <p:cNvPr id="5" name="Text 3"/>
          <p:cNvSpPr/>
          <p:nvPr/>
        </p:nvSpPr>
        <p:spPr>
          <a:xfrm>
            <a:off x="502920" y="868680"/>
            <a:ext cx="11155680" cy="731520"/>
          </a:xfrm>
          <a:prstGeom prst="rect">
            <a:avLst/>
          </a:prstGeom>
          <a:noFill/>
          <a:ln/>
        </p:spPr>
        <p:txBody>
          <a:bodyPr wrap="square" rtlCol="0" anchor="ctr"/>
          <a:lstStyle/>
          <a:p>
            <a:pPr indent="0" marL="0">
              <a:buNone/>
            </a:pPr>
            <a:r>
              <a:rPr lang="en-US" sz="3000" b="1" dirty="0">
                <a:solidFill>
                  <a:srgbClr val="F3F2EF"/>
                </a:solidFill>
                <a:latin typeface="Segoe UI" pitchFamily="34" charset="0"/>
                <a:ea typeface="Segoe UI" pitchFamily="34" charset="-122"/>
                <a:cs typeface="Segoe UI" pitchFamily="34" charset="-120"/>
              </a:rPr>
              <a:t>Limitaciones, decisiones e IA</a:t>
            </a:r>
            <a:endParaRPr lang="en-US" sz="3000" dirty="0"/>
          </a:p>
        </p:txBody>
      </p:sp>
      <p:sp>
        <p:nvSpPr>
          <p:cNvPr id="6" name="Text 4"/>
          <p:cNvSpPr/>
          <p:nvPr/>
        </p:nvSpPr>
        <p:spPr>
          <a:xfrm>
            <a:off x="502920" y="6400800"/>
            <a:ext cx="7315200" cy="274320"/>
          </a:xfrm>
          <a:prstGeom prst="rect">
            <a:avLst/>
          </a:prstGeom>
          <a:noFill/>
          <a:ln/>
        </p:spPr>
        <p:txBody>
          <a:bodyPr wrap="square" rtlCol="0" anchor="ctr"/>
          <a:lstStyle/>
          <a:p>
            <a:pPr indent="0" marL="0">
              <a:buNone/>
            </a:pPr>
            <a:r>
              <a:rPr lang="en-US" sz="900" dirty="0">
                <a:solidFill>
                  <a:srgbClr val="6E6E75"/>
                </a:solidFill>
                <a:latin typeface="Segoe UI" pitchFamily="34" charset="0"/>
                <a:ea typeface="Segoe UI" pitchFamily="34" charset="-122"/>
                <a:cs typeface="Segoe UI" pitchFamily="34" charset="-120"/>
              </a:rPr>
              <a:t>Prototipo académico UCAM · sin actividad comercial real</a:t>
            </a:r>
            <a:endParaRPr lang="en-US" sz="900" dirty="0"/>
          </a:p>
        </p:txBody>
      </p:sp>
      <p:sp>
        <p:nvSpPr>
          <p:cNvPr id="7" name="Shape 5"/>
          <p:cNvSpPr/>
          <p:nvPr/>
        </p:nvSpPr>
        <p:spPr>
          <a:xfrm>
            <a:off x="502920" y="1737360"/>
            <a:ext cx="3611880" cy="3291840"/>
          </a:xfrm>
          <a:prstGeom prst="rect">
            <a:avLst/>
          </a:prstGeom>
          <a:solidFill>
            <a:srgbClr val="161719"/>
          </a:solidFill>
          <a:ln w="12700">
            <a:solidFill>
              <a:srgbClr val="2A2B31"/>
            </a:solidFill>
            <a:prstDash val="solid"/>
          </a:ln>
        </p:spPr>
      </p:sp>
      <p:sp>
        <p:nvSpPr>
          <p:cNvPr id="8" name="Shape 6"/>
          <p:cNvSpPr/>
          <p:nvPr/>
        </p:nvSpPr>
        <p:spPr>
          <a:xfrm>
            <a:off x="502920" y="1737360"/>
            <a:ext cx="54864" cy="3291840"/>
          </a:xfrm>
          <a:prstGeom prst="rect">
            <a:avLst/>
          </a:prstGeom>
          <a:solidFill>
            <a:srgbClr val="55DCD4"/>
          </a:solidFill>
          <a:ln w="12700">
            <a:solidFill>
              <a:srgbClr val="55DCD4"/>
            </a:solidFill>
            <a:prstDash val="solid"/>
          </a:ln>
        </p:spPr>
      </p:sp>
      <p:sp>
        <p:nvSpPr>
          <p:cNvPr id="9" name="Text 7"/>
          <p:cNvSpPr/>
          <p:nvPr/>
        </p:nvSpPr>
        <p:spPr>
          <a:xfrm>
            <a:off x="704088" y="1847088"/>
            <a:ext cx="3291840" cy="411480"/>
          </a:xfrm>
          <a:prstGeom prst="rect">
            <a:avLst/>
          </a:prstGeom>
          <a:noFill/>
          <a:ln/>
        </p:spPr>
        <p:txBody>
          <a:bodyPr wrap="square" rtlCol="0" anchor="ctr"/>
          <a:lstStyle/>
          <a:p>
            <a:pPr indent="0" marL="0">
              <a:buNone/>
            </a:pPr>
            <a:r>
              <a:rPr lang="en-US" sz="1500" b="1" dirty="0">
                <a:solidFill>
                  <a:srgbClr val="55DCD4"/>
                </a:solidFill>
                <a:latin typeface="Segoe UI" pitchFamily="34" charset="0"/>
                <a:ea typeface="Segoe UI" pitchFamily="34" charset="-122"/>
                <a:cs typeface="Segoe UI" pitchFamily="34" charset="-120"/>
              </a:rPr>
              <a:t>Decisiones críticas</a:t>
            </a:r>
            <a:endParaRPr lang="en-US" sz="1500" dirty="0"/>
          </a:p>
        </p:txBody>
      </p:sp>
      <p:sp>
        <p:nvSpPr>
          <p:cNvPr id="10" name="Text 8"/>
          <p:cNvSpPr/>
          <p:nvPr/>
        </p:nvSpPr>
        <p:spPr>
          <a:xfrm>
            <a:off x="704088" y="2286000"/>
            <a:ext cx="3246120" cy="2606040"/>
          </a:xfrm>
          <a:prstGeom prst="rect">
            <a:avLst/>
          </a:prstGeom>
          <a:noFill/>
          <a:ln/>
        </p:spPr>
        <p:txBody>
          <a:bodyPr wrap="square" rtlCol="0" anchor="t"/>
          <a:lstStyle/>
          <a:p>
            <a:pPr marL="177800" indent="-177800">
              <a:spcAft>
                <a:spcPts val="500"/>
              </a:spcAft>
              <a:buSzPct val="100000"/>
              <a:buChar char="•"/>
            </a:pPr>
            <a:r>
              <a:rPr lang="en-US" sz="1200" dirty="0">
                <a:solidFill>
                  <a:srgbClr val="F3F2EF"/>
                </a:solidFill>
                <a:latin typeface="Segoe UI" pitchFamily="34" charset="0"/>
                <a:ea typeface="Segoe UI" pitchFamily="34" charset="-122"/>
                <a:cs typeface="Segoe UI" pitchFamily="34" charset="-120"/>
              </a:rPr>
              <a:t>PHP + MySQL: lo que ofrece el hosting, sin VPS</a:t>
            </a:r>
            <a:endParaRPr lang="en-US" sz="1200" dirty="0"/>
          </a:p>
          <a:p>
            <a:pPr marL="177800" indent="-177800">
              <a:spcAft>
                <a:spcPts val="500"/>
              </a:spcAft>
              <a:buSzPct val="100000"/>
              <a:buChar char="•"/>
            </a:pPr>
            <a:r>
              <a:rPr lang="en-US" sz="1200" dirty="0">
                <a:solidFill>
                  <a:srgbClr val="F3F2EF"/>
                </a:solidFill>
                <a:latin typeface="Segoe UI" pitchFamily="34" charset="0"/>
                <a:ea typeface="Segoe UI" pitchFamily="34" charset="-122"/>
                <a:cs typeface="Segoe UI" pitchFamily="34" charset="-120"/>
              </a:rPr>
              <a:t>Desarrollo propio en vez de WooCommerce: el modelo de datos queda visible</a:t>
            </a:r>
            <a:endParaRPr lang="en-US" sz="1200" dirty="0"/>
          </a:p>
          <a:p>
            <a:pPr marL="177800" indent="-177800">
              <a:spcAft>
                <a:spcPts val="500"/>
              </a:spcAft>
              <a:buSzPct val="100000"/>
              <a:buChar char="•"/>
            </a:pPr>
            <a:r>
              <a:rPr lang="en-US" sz="1200" dirty="0">
                <a:solidFill>
                  <a:srgbClr val="F3F2EF"/>
                </a:solidFill>
                <a:latin typeface="Segoe UI" pitchFamily="34" charset="0"/>
                <a:ea typeface="Segoe UI" pitchFamily="34" charset="-122"/>
                <a:cs typeface="Segoe UI" pitchFamily="34" charset="-120"/>
              </a:rPr>
              <a:t>Pasarela simulada: sin claves de terceros; solo se guardan 4 dígitos</a:t>
            </a:r>
            <a:endParaRPr lang="en-US" sz="1200" dirty="0"/>
          </a:p>
          <a:p>
            <a:pPr marL="177800" indent="-177800">
              <a:spcAft>
                <a:spcPts val="500"/>
              </a:spcAft>
              <a:buSzPct val="100000"/>
              <a:buChar char="•"/>
            </a:pPr>
            <a:r>
              <a:rPr lang="en-US" sz="1200" dirty="0">
                <a:solidFill>
                  <a:srgbClr val="F3F2EF"/>
                </a:solidFill>
                <a:latin typeface="Segoe UI" pitchFamily="34" charset="0"/>
                <a:ea typeface="Segoe UI" pitchFamily="34" charset="-122"/>
                <a:cs typeface="Segoe UI" pitchFamily="34" charset="-120"/>
              </a:rPr>
              <a:t>Eventos en BD: misma transacción que el negocio</a:t>
            </a:r>
            <a:endParaRPr lang="en-US" sz="1200" dirty="0"/>
          </a:p>
        </p:txBody>
      </p:sp>
      <p:sp>
        <p:nvSpPr>
          <p:cNvPr id="11" name="Shape 9"/>
          <p:cNvSpPr/>
          <p:nvPr/>
        </p:nvSpPr>
        <p:spPr>
          <a:xfrm>
            <a:off x="4297680" y="1737360"/>
            <a:ext cx="3611880" cy="3291840"/>
          </a:xfrm>
          <a:prstGeom prst="rect">
            <a:avLst/>
          </a:prstGeom>
          <a:solidFill>
            <a:srgbClr val="161719"/>
          </a:solidFill>
          <a:ln w="12700">
            <a:solidFill>
              <a:srgbClr val="2A2B31"/>
            </a:solidFill>
            <a:prstDash val="solid"/>
          </a:ln>
        </p:spPr>
      </p:sp>
      <p:sp>
        <p:nvSpPr>
          <p:cNvPr id="12" name="Shape 10"/>
          <p:cNvSpPr/>
          <p:nvPr/>
        </p:nvSpPr>
        <p:spPr>
          <a:xfrm>
            <a:off x="4297680" y="1737360"/>
            <a:ext cx="54864" cy="3291840"/>
          </a:xfrm>
          <a:prstGeom prst="rect">
            <a:avLst/>
          </a:prstGeom>
          <a:solidFill>
            <a:srgbClr val="F27FAA"/>
          </a:solidFill>
          <a:ln w="12700">
            <a:solidFill>
              <a:srgbClr val="F27FAA"/>
            </a:solidFill>
            <a:prstDash val="solid"/>
          </a:ln>
        </p:spPr>
      </p:sp>
      <p:sp>
        <p:nvSpPr>
          <p:cNvPr id="13" name="Text 11"/>
          <p:cNvSpPr/>
          <p:nvPr/>
        </p:nvSpPr>
        <p:spPr>
          <a:xfrm>
            <a:off x="4498848" y="1847088"/>
            <a:ext cx="3291840" cy="411480"/>
          </a:xfrm>
          <a:prstGeom prst="rect">
            <a:avLst/>
          </a:prstGeom>
          <a:noFill/>
          <a:ln/>
        </p:spPr>
        <p:txBody>
          <a:bodyPr wrap="square" rtlCol="0" anchor="ctr"/>
          <a:lstStyle/>
          <a:p>
            <a:pPr indent="0" marL="0">
              <a:buNone/>
            </a:pPr>
            <a:r>
              <a:rPr lang="en-US" sz="1500" b="1" dirty="0">
                <a:solidFill>
                  <a:srgbClr val="F27FAA"/>
                </a:solidFill>
                <a:latin typeface="Segoe UI" pitchFamily="34" charset="0"/>
                <a:ea typeface="Segoe UI" pitchFamily="34" charset="-122"/>
                <a:cs typeface="Segoe UI" pitchFamily="34" charset="-120"/>
              </a:rPr>
              <a:t>Limitaciones</a:t>
            </a:r>
            <a:endParaRPr lang="en-US" sz="1500" dirty="0"/>
          </a:p>
        </p:txBody>
      </p:sp>
      <p:sp>
        <p:nvSpPr>
          <p:cNvPr id="14" name="Text 12"/>
          <p:cNvSpPr/>
          <p:nvPr/>
        </p:nvSpPr>
        <p:spPr>
          <a:xfrm>
            <a:off x="4498848" y="2286000"/>
            <a:ext cx="3246120" cy="2606040"/>
          </a:xfrm>
          <a:prstGeom prst="rect">
            <a:avLst/>
          </a:prstGeom>
          <a:noFill/>
          <a:ln/>
        </p:spPr>
        <p:txBody>
          <a:bodyPr wrap="square" rtlCol="0" anchor="t"/>
          <a:lstStyle/>
          <a:p>
            <a:pPr marL="177800" indent="-177800">
              <a:spcAft>
                <a:spcPts val="500"/>
              </a:spcAft>
              <a:buSzPct val="100000"/>
              <a:buChar char="•"/>
            </a:pPr>
            <a:r>
              <a:rPr lang="en-US" sz="1200" dirty="0">
                <a:solidFill>
                  <a:srgbClr val="F3F2EF"/>
                </a:solidFill>
                <a:latin typeface="Segoe UI" pitchFamily="34" charset="0"/>
                <a:ea typeface="Segoe UI" pitchFamily="34" charset="-122"/>
                <a:cs typeface="Segoe UI" pitchFamily="34" charset="-120"/>
              </a:rPr>
              <a:t>Pago simulado, sin pasarela real</a:t>
            </a:r>
            <a:endParaRPr lang="en-US" sz="1200" dirty="0"/>
          </a:p>
          <a:p>
            <a:pPr marL="177800" indent="-177800">
              <a:spcAft>
                <a:spcPts val="500"/>
              </a:spcAft>
              <a:buSzPct val="100000"/>
              <a:buChar char="•"/>
            </a:pPr>
            <a:r>
              <a:rPr lang="en-US" sz="1200" dirty="0">
                <a:solidFill>
                  <a:srgbClr val="F3F2EF"/>
                </a:solidFill>
                <a:latin typeface="Segoe UI" pitchFamily="34" charset="0"/>
                <a:ea typeface="Segoe UI" pitchFamily="34" charset="-122"/>
                <a:cs typeface="Segoe UI" pitchFamily="34" charset="-120"/>
              </a:rPr>
              <a:t>Sin cuentas de cliente ni emails</a:t>
            </a:r>
            <a:endParaRPr lang="en-US" sz="1200" dirty="0"/>
          </a:p>
          <a:p>
            <a:pPr marL="177800" indent="-177800">
              <a:spcAft>
                <a:spcPts val="500"/>
              </a:spcAft>
              <a:buSzPct val="100000"/>
              <a:buChar char="•"/>
            </a:pPr>
            <a:r>
              <a:rPr lang="en-US" sz="1200" dirty="0">
                <a:solidFill>
                  <a:srgbClr val="F3F2EF"/>
                </a:solidFill>
                <a:latin typeface="Segoe UI" pitchFamily="34" charset="0"/>
                <a:ea typeface="Segoe UI" pitchFamily="34" charset="-122"/>
                <a:cs typeface="Segoe UI" pitchFamily="34" charset="-120"/>
              </a:rPr>
              <a:t>Una sola cuenta de back-office de prueba</a:t>
            </a:r>
            <a:endParaRPr lang="en-US" sz="1200" dirty="0"/>
          </a:p>
          <a:p>
            <a:pPr marL="177800" indent="-177800">
              <a:spcAft>
                <a:spcPts val="500"/>
              </a:spcAft>
              <a:buSzPct val="100000"/>
              <a:buChar char="•"/>
            </a:pPr>
            <a:r>
              <a:rPr lang="en-US" sz="1200" dirty="0">
                <a:solidFill>
                  <a:srgbClr val="F3F2EF"/>
                </a:solidFill>
                <a:latin typeface="Segoe UI" pitchFamily="34" charset="0"/>
                <a:ea typeface="Segoe UI" pitchFamily="34" charset="-122"/>
                <a:cs typeface="Segoe UI" pitchFamily="34" charset="-120"/>
              </a:rPr>
              <a:t>Sin límite de peticiones en eventos</a:t>
            </a:r>
            <a:endParaRPr lang="en-US" sz="1200" dirty="0"/>
          </a:p>
          <a:p>
            <a:pPr marL="177800" indent="-177800">
              <a:spcAft>
                <a:spcPts val="500"/>
              </a:spcAft>
              <a:buSzPct val="100000"/>
              <a:buChar char="•"/>
            </a:pPr>
            <a:r>
              <a:rPr lang="en-US" sz="1200" dirty="0">
                <a:solidFill>
                  <a:srgbClr val="F3F2EF"/>
                </a:solidFill>
                <a:latin typeface="Segoe UI" pitchFamily="34" charset="0"/>
                <a:ea typeface="Segoe UI" pitchFamily="34" charset="-122"/>
                <a:cs typeface="Segoe UI" pitchFamily="34" charset="-120"/>
              </a:rPr>
              <a:t>8 variantes con imagen provisional</a:t>
            </a:r>
            <a:endParaRPr lang="en-US" sz="1200" dirty="0"/>
          </a:p>
        </p:txBody>
      </p:sp>
      <p:sp>
        <p:nvSpPr>
          <p:cNvPr id="15" name="Shape 13"/>
          <p:cNvSpPr/>
          <p:nvPr/>
        </p:nvSpPr>
        <p:spPr>
          <a:xfrm>
            <a:off x="8092440" y="1737360"/>
            <a:ext cx="3566160" cy="3291840"/>
          </a:xfrm>
          <a:prstGeom prst="rect">
            <a:avLst/>
          </a:prstGeom>
          <a:solidFill>
            <a:srgbClr val="161719"/>
          </a:solidFill>
          <a:ln w="12700">
            <a:solidFill>
              <a:srgbClr val="2A2B31"/>
            </a:solidFill>
            <a:prstDash val="solid"/>
          </a:ln>
        </p:spPr>
      </p:sp>
      <p:sp>
        <p:nvSpPr>
          <p:cNvPr id="16" name="Shape 14"/>
          <p:cNvSpPr/>
          <p:nvPr/>
        </p:nvSpPr>
        <p:spPr>
          <a:xfrm>
            <a:off x="8092440" y="1737360"/>
            <a:ext cx="54864" cy="3291840"/>
          </a:xfrm>
          <a:prstGeom prst="rect">
            <a:avLst/>
          </a:prstGeom>
          <a:solidFill>
            <a:srgbClr val="F3B36B"/>
          </a:solidFill>
          <a:ln w="12700">
            <a:solidFill>
              <a:srgbClr val="F3B36B"/>
            </a:solidFill>
            <a:prstDash val="solid"/>
          </a:ln>
        </p:spPr>
      </p:sp>
      <p:sp>
        <p:nvSpPr>
          <p:cNvPr id="17" name="Text 15"/>
          <p:cNvSpPr/>
          <p:nvPr/>
        </p:nvSpPr>
        <p:spPr>
          <a:xfrm>
            <a:off x="8293608" y="1847088"/>
            <a:ext cx="3246120" cy="411480"/>
          </a:xfrm>
          <a:prstGeom prst="rect">
            <a:avLst/>
          </a:prstGeom>
          <a:noFill/>
          <a:ln/>
        </p:spPr>
        <p:txBody>
          <a:bodyPr wrap="square" rtlCol="0" anchor="ctr"/>
          <a:lstStyle/>
          <a:p>
            <a:pPr indent="0" marL="0">
              <a:buNone/>
            </a:pPr>
            <a:r>
              <a:rPr lang="en-US" sz="1500" b="1" dirty="0">
                <a:solidFill>
                  <a:srgbClr val="F3B36B"/>
                </a:solidFill>
                <a:latin typeface="Segoe UI" pitchFamily="34" charset="0"/>
                <a:ea typeface="Segoe UI" pitchFamily="34" charset="-122"/>
                <a:cs typeface="Segoe UI" pitchFamily="34" charset="-120"/>
              </a:rPr>
              <a:t>Uso de IA</a:t>
            </a:r>
            <a:endParaRPr lang="en-US" sz="1500" dirty="0"/>
          </a:p>
        </p:txBody>
      </p:sp>
      <p:sp>
        <p:nvSpPr>
          <p:cNvPr id="18" name="Text 16"/>
          <p:cNvSpPr/>
          <p:nvPr/>
        </p:nvSpPr>
        <p:spPr>
          <a:xfrm>
            <a:off x="8293608" y="2286000"/>
            <a:ext cx="3200400" cy="2606040"/>
          </a:xfrm>
          <a:prstGeom prst="rect">
            <a:avLst/>
          </a:prstGeom>
          <a:noFill/>
          <a:ln/>
        </p:spPr>
        <p:txBody>
          <a:bodyPr wrap="square" rtlCol="0" anchor="t"/>
          <a:lstStyle/>
          <a:p>
            <a:pPr marL="177800" indent="-177800">
              <a:spcAft>
                <a:spcPts val="500"/>
              </a:spcAft>
              <a:buSzPct val="100000"/>
              <a:buChar char="•"/>
            </a:pPr>
            <a:r>
              <a:rPr lang="en-US" sz="1200" dirty="0">
                <a:solidFill>
                  <a:srgbClr val="F3F2EF"/>
                </a:solidFill>
                <a:latin typeface="Segoe UI" pitchFamily="34" charset="0"/>
                <a:ea typeface="Segoe UI" pitchFamily="34" charset="-122"/>
                <a:cs typeface="Segoe UI" pitchFamily="34" charset="-120"/>
              </a:rPr>
              <a:t>Versión inicial del HTML generada con IA</a:t>
            </a:r>
            <a:endParaRPr lang="en-US" sz="1200" dirty="0"/>
          </a:p>
          <a:p>
            <a:pPr marL="177800" indent="-177800">
              <a:spcAft>
                <a:spcPts val="500"/>
              </a:spcAft>
              <a:buSzPct val="100000"/>
              <a:buChar char="•"/>
            </a:pPr>
            <a:r>
              <a:rPr lang="en-US" sz="1200" dirty="0">
                <a:solidFill>
                  <a:srgbClr val="F3F2EF"/>
                </a:solidFill>
                <a:latin typeface="Segoe UI" pitchFamily="34" charset="0"/>
                <a:ea typeface="Segoe UI" pitchFamily="34" charset="-122"/>
                <a:cs typeface="Segoe UI" pitchFamily="34" charset="-120"/>
              </a:rPr>
              <a:t>Claude Code: arquitectura, código, datos de prueba y borradores</a:t>
            </a:r>
            <a:endParaRPr lang="en-US" sz="1200" dirty="0"/>
          </a:p>
          <a:p>
            <a:pPr marL="177800" indent="-177800">
              <a:spcAft>
                <a:spcPts val="500"/>
              </a:spcAft>
              <a:buSzPct val="100000"/>
              <a:buChar char="•"/>
            </a:pPr>
            <a:r>
              <a:rPr lang="en-US" sz="1200" dirty="0">
                <a:solidFill>
                  <a:srgbClr val="F3F2EF"/>
                </a:solidFill>
                <a:latin typeface="Segoe UI" pitchFamily="34" charset="0"/>
                <a:ea typeface="Segoe UI" pitchFamily="34" charset="-122"/>
                <a:cs typeface="Segoe UI" pitchFamily="34" charset="-120"/>
              </a:rPr>
              <a:t>Errores detectados: filtro de modo, manejadores duplicados, repintado continuo…</a:t>
            </a:r>
            <a:endParaRPr lang="en-US" sz="1200" dirty="0"/>
          </a:p>
          <a:p>
            <a:pPr marL="177800" indent="-177800">
              <a:spcAft>
                <a:spcPts val="500"/>
              </a:spcAft>
              <a:buSzPct val="100000"/>
              <a:buChar char="•"/>
            </a:pPr>
            <a:r>
              <a:rPr lang="en-US" sz="1200" dirty="0">
                <a:solidFill>
                  <a:srgbClr val="F3F2EF"/>
                </a:solidFill>
                <a:latin typeface="Segoe UI" pitchFamily="34" charset="0"/>
                <a:ea typeface="Segoe UI" pitchFamily="34" charset="-122"/>
                <a:cs typeface="Segoe UI" pitchFamily="34" charset="-120"/>
              </a:rPr>
              <a:t>Validado con pruebas del flujo y de la API</a:t>
            </a:r>
            <a:endParaRPr lang="en-US" sz="1200" dirty="0"/>
          </a:p>
          <a:p>
            <a:pPr marL="177800" indent="-177800">
              <a:spcAft>
                <a:spcPts val="500"/>
              </a:spcAft>
              <a:buSzPct val="100000"/>
              <a:buChar char="•"/>
            </a:pPr>
            <a:r>
              <a:rPr lang="en-US" sz="1200" dirty="0">
                <a:solidFill>
                  <a:srgbClr val="F3F2EF"/>
                </a:solidFill>
                <a:latin typeface="Segoe UI" pitchFamily="34" charset="0"/>
                <a:ea typeface="Segoe UI" pitchFamily="34" charset="-122"/>
                <a:cs typeface="Segoe UI" pitchFamily="34" charset="-120"/>
              </a:rPr>
              <a:t>[COMPLETAR: reflexión crítica del grupo]</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A0A0C"/>
        </a:solidFill>
      </p:bgPr>
    </p:bg>
    <p:spTree>
      <p:nvGrpSpPr>
        <p:cNvPr id="1" name=""/>
        <p:cNvGrpSpPr/>
        <p:nvPr/>
      </p:nvGrpSpPr>
      <p:grpSpPr>
        <a:xfrm>
          <a:off x="0" y="0"/>
          <a:ext cx="0" cy="0"/>
          <a:chOff x="0" y="0"/>
          <a:chExt cx="0" cy="0"/>
        </a:xfrm>
      </p:grpSpPr>
      <p:sp>
        <p:nvSpPr>
          <p:cNvPr id="2" name="Shape 0"/>
          <p:cNvSpPr/>
          <p:nvPr/>
        </p:nvSpPr>
        <p:spPr>
          <a:xfrm>
            <a:off x="502920" y="566928"/>
            <a:ext cx="109728" cy="109728"/>
          </a:xfrm>
          <a:prstGeom prst="ellipse">
            <a:avLst/>
          </a:prstGeom>
          <a:solidFill>
            <a:srgbClr val="55DCD4"/>
          </a:solidFill>
          <a:ln w="12700">
            <a:solidFill>
              <a:srgbClr val="55DCD4"/>
            </a:solidFill>
            <a:prstDash val="solid"/>
          </a:ln>
        </p:spPr>
      </p:sp>
      <p:sp>
        <p:nvSpPr>
          <p:cNvPr id="3" name="Text 1"/>
          <p:cNvSpPr/>
          <p:nvPr/>
        </p:nvSpPr>
        <p:spPr>
          <a:xfrm>
            <a:off x="685800" y="457200"/>
            <a:ext cx="2743200" cy="320040"/>
          </a:xfrm>
          <a:prstGeom prst="rect">
            <a:avLst/>
          </a:prstGeom>
          <a:noFill/>
          <a:ln/>
        </p:spPr>
        <p:txBody>
          <a:bodyPr wrap="square" rtlCol="0" anchor="ctr"/>
          <a:lstStyle/>
          <a:p>
            <a:pPr indent="0" marL="0">
              <a:buNone/>
            </a:pPr>
            <a:r>
              <a:rPr lang="en-US" sz="1200" b="1" spc="200" kern="0" dirty="0">
                <a:solidFill>
                  <a:srgbClr val="A3A2A9"/>
                </a:solidFill>
                <a:latin typeface="Segoe UI" pitchFamily="34" charset="0"/>
                <a:ea typeface="Segoe UI" pitchFamily="34" charset="-122"/>
                <a:cs typeface="Segoe UI" pitchFamily="34" charset="-120"/>
              </a:rPr>
              <a:t>NOCTILUZ</a:t>
            </a:r>
            <a:endParaRPr lang="en-US" sz="1200" dirty="0"/>
          </a:p>
        </p:txBody>
      </p:sp>
      <p:sp>
        <p:nvSpPr>
          <p:cNvPr id="4" name="Text 2"/>
          <p:cNvSpPr/>
          <p:nvPr/>
        </p:nvSpPr>
        <p:spPr>
          <a:xfrm>
            <a:off x="10332720" y="457200"/>
            <a:ext cx="1371600" cy="320040"/>
          </a:xfrm>
          <a:prstGeom prst="rect">
            <a:avLst/>
          </a:prstGeom>
          <a:noFill/>
          <a:ln/>
        </p:spPr>
        <p:txBody>
          <a:bodyPr wrap="square" rtlCol="0" anchor="ctr"/>
          <a:lstStyle/>
          <a:p>
            <a:pPr algn="r" indent="0" marL="0">
              <a:buNone/>
            </a:pPr>
            <a:r>
              <a:rPr lang="en-US" sz="1100" dirty="0">
                <a:solidFill>
                  <a:srgbClr val="A3A2A9"/>
                </a:solidFill>
                <a:latin typeface="Segoe UI" pitchFamily="34" charset="0"/>
                <a:ea typeface="Segoe UI" pitchFamily="34" charset="-122"/>
                <a:cs typeface="Segoe UI" pitchFamily="34" charset="-120"/>
              </a:rPr>
              <a:t>6 / 6</a:t>
            </a:r>
            <a:endParaRPr lang="en-US" sz="1100" dirty="0"/>
          </a:p>
        </p:txBody>
      </p:sp>
      <p:sp>
        <p:nvSpPr>
          <p:cNvPr id="5" name="Text 3"/>
          <p:cNvSpPr/>
          <p:nvPr/>
        </p:nvSpPr>
        <p:spPr>
          <a:xfrm>
            <a:off x="502920" y="6400800"/>
            <a:ext cx="7315200" cy="274320"/>
          </a:xfrm>
          <a:prstGeom prst="rect">
            <a:avLst/>
          </a:prstGeom>
          <a:noFill/>
          <a:ln/>
        </p:spPr>
        <p:txBody>
          <a:bodyPr wrap="square" rtlCol="0" anchor="ctr"/>
          <a:lstStyle/>
          <a:p>
            <a:pPr indent="0" marL="0">
              <a:buNone/>
            </a:pPr>
            <a:r>
              <a:rPr lang="en-US" sz="900" dirty="0">
                <a:solidFill>
                  <a:srgbClr val="6E6E75"/>
                </a:solidFill>
                <a:latin typeface="Segoe UI" pitchFamily="34" charset="0"/>
                <a:ea typeface="Segoe UI" pitchFamily="34" charset="-122"/>
                <a:cs typeface="Segoe UI" pitchFamily="34" charset="-120"/>
              </a:rPr>
              <a:t>Prototipo académico UCAM · sin actividad comercial real</a:t>
            </a:r>
            <a:endParaRPr lang="en-US" sz="900" dirty="0"/>
          </a:p>
        </p:txBody>
      </p:sp>
      <p:sp>
        <p:nvSpPr>
          <p:cNvPr id="6" name="Text 4"/>
          <p:cNvSpPr/>
          <p:nvPr/>
        </p:nvSpPr>
        <p:spPr>
          <a:xfrm>
            <a:off x="502920" y="1005840"/>
            <a:ext cx="10972800" cy="731520"/>
          </a:xfrm>
          <a:prstGeom prst="rect">
            <a:avLst/>
          </a:prstGeom>
          <a:noFill/>
          <a:ln/>
        </p:spPr>
        <p:txBody>
          <a:bodyPr wrap="square" rtlCol="0" anchor="ctr"/>
          <a:lstStyle/>
          <a:p>
            <a:pPr indent="0" marL="0">
              <a:buNone/>
            </a:pPr>
            <a:r>
              <a:rPr lang="en-US" sz="3000" b="1" dirty="0">
                <a:solidFill>
                  <a:srgbClr val="F3F2EF"/>
                </a:solidFill>
                <a:latin typeface="Segoe UI" pitchFamily="34" charset="0"/>
                <a:ea typeface="Segoe UI" pitchFamily="34" charset="-122"/>
                <a:cs typeface="Segoe UI" pitchFamily="34" charset="-120"/>
              </a:rPr>
              <a:t>Conclusión</a:t>
            </a:r>
            <a:endParaRPr lang="en-US" sz="3000" dirty="0"/>
          </a:p>
        </p:txBody>
      </p:sp>
      <p:sp>
        <p:nvSpPr>
          <p:cNvPr id="7" name="Text 5"/>
          <p:cNvSpPr/>
          <p:nvPr/>
        </p:nvSpPr>
        <p:spPr>
          <a:xfrm>
            <a:off x="502920" y="1920240"/>
            <a:ext cx="10972800" cy="2743200"/>
          </a:xfrm>
          <a:prstGeom prst="rect">
            <a:avLst/>
          </a:prstGeom>
          <a:noFill/>
          <a:ln/>
        </p:spPr>
        <p:txBody>
          <a:bodyPr wrap="square" rtlCol="0" anchor="t"/>
          <a:lstStyle/>
          <a:p>
            <a:pPr marL="203200" indent="-203200">
              <a:spcAft>
                <a:spcPts val="1200"/>
              </a:spcAft>
              <a:buSzPct val="100000"/>
              <a:buChar char="•"/>
            </a:pPr>
            <a:r>
              <a:rPr lang="en-US" sz="2000" dirty="0">
                <a:solidFill>
                  <a:srgbClr val="F3F2EF"/>
                </a:solidFill>
                <a:latin typeface="Segoe UI" pitchFamily="34" charset="0"/>
                <a:ea typeface="Segoe UI" pitchFamily="34" charset="-122"/>
                <a:cs typeface="Segoe UI" pitchFamily="34" charset="-120"/>
              </a:rPr>
              <a:t>Flujo de compra completo y desplegado en un dominio público.</a:t>
            </a:r>
            <a:endParaRPr lang="en-US" sz="2000" dirty="0"/>
          </a:p>
          <a:p>
            <a:pPr marL="203200" indent="-203200">
              <a:spcAft>
                <a:spcPts val="1200"/>
              </a:spcAft>
              <a:buSzPct val="100000"/>
              <a:buChar char="•"/>
            </a:pPr>
            <a:r>
              <a:rPr lang="en-US" sz="2000" dirty="0">
                <a:solidFill>
                  <a:srgbClr val="F3F2EF"/>
                </a:solidFill>
                <a:latin typeface="Segoe UI" pitchFamily="34" charset="0"/>
                <a:ea typeface="Segoe UI" pitchFamily="34" charset="-122"/>
                <a:cs typeface="Segoe UI" pitchFamily="34" charset="-120"/>
              </a:rPr>
              <a:t>Reglas de negocio en el servidor: IVA, envío, cupones, stock y estados.</a:t>
            </a:r>
            <a:endParaRPr lang="en-US" sz="2000" dirty="0"/>
          </a:p>
          <a:p>
            <a:pPr marL="203200" indent="-203200">
              <a:spcAft>
                <a:spcPts val="1200"/>
              </a:spcAft>
              <a:buSzPct val="100000"/>
              <a:buChar char="•"/>
            </a:pPr>
            <a:r>
              <a:rPr lang="en-US" sz="2000" dirty="0">
                <a:solidFill>
                  <a:srgbClr val="F3F2EF"/>
                </a:solidFill>
                <a:latin typeface="Segoe UI" pitchFamily="34" charset="0"/>
                <a:ea typeface="Segoe UI" pitchFamily="34" charset="-122"/>
                <a:cs typeface="Segoe UI" pitchFamily="34" charset="-120"/>
              </a:rPr>
              <a:t>Cada paso deja datos y eventos trazables, listos para integrarse en la Tarea 2.</a:t>
            </a:r>
            <a:endParaRPr lang="en-US" sz="2000" dirty="0"/>
          </a:p>
          <a:p>
            <a:pPr marL="203200" indent="-203200">
              <a:spcAft>
                <a:spcPts val="1200"/>
              </a:spcAft>
              <a:buSzPct val="100000"/>
              <a:buChar char="•"/>
            </a:pPr>
            <a:r>
              <a:rPr lang="en-US" sz="2000" dirty="0">
                <a:solidFill>
                  <a:srgbClr val="F3B36B"/>
                </a:solidFill>
                <a:latin typeface="Segoe UI" pitchFamily="34" charset="0"/>
                <a:ea typeface="Segoe UI" pitchFamily="34" charset="-122"/>
                <a:cs typeface="Segoe UI" pitchFamily="34" charset="-120"/>
              </a:rPr>
              <a:t>[COMPLETAR: aprendizaje principal del grupo]</a:t>
            </a:r>
            <a:endParaRPr lang="en-US" sz="2000" dirty="0"/>
          </a:p>
        </p:txBody>
      </p:sp>
      <p:sp>
        <p:nvSpPr>
          <p:cNvPr id="8" name="Text 6"/>
          <p:cNvSpPr/>
          <p:nvPr/>
        </p:nvSpPr>
        <p:spPr>
          <a:xfrm>
            <a:off x="502920" y="5029200"/>
            <a:ext cx="10972800" cy="731520"/>
          </a:xfrm>
          <a:prstGeom prst="rect">
            <a:avLst/>
          </a:prstGeom>
          <a:noFill/>
          <a:ln/>
        </p:spPr>
        <p:txBody>
          <a:bodyPr wrap="square" rtlCol="0" anchor="ctr"/>
          <a:lstStyle/>
          <a:p>
            <a:pPr indent="0" marL="0">
              <a:buNone/>
            </a:pPr>
            <a:r>
              <a:rPr lang="en-US" sz="2800" b="1" dirty="0">
                <a:solidFill>
                  <a:srgbClr val="55DCD4"/>
                </a:solidFill>
                <a:latin typeface="Segoe UI" pitchFamily="34" charset="0"/>
                <a:ea typeface="Segoe UI" pitchFamily="34" charset="-122"/>
                <a:cs typeface="Segoe UI" pitchFamily="34" charset="-120"/>
              </a:rPr>
              <a:t>¿Preguntas?</a:t>
            </a:r>
            <a:endParaRPr lang="en-US" sz="2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NOCTILUZ · Defensa Tarea 1</dc:title>
  <dc:subject>PptxGenJS Presentation</dc:subject>
  <dc:creator>PptxGenJS</dc:creator>
  <cp:lastModifiedBy>PptxGenJS</cp:lastModifiedBy>
  <cp:revision>1</cp:revision>
  <dcterms:created xsi:type="dcterms:W3CDTF">2026-10-05T16:32:59Z</dcterms:created>
  <dcterms:modified xsi:type="dcterms:W3CDTF">2026-10-05T16:32:59Z</dcterms:modified>
</cp:coreProperties>
</file>