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1 y 2, ≈1:45). Guion completo en docs/Guion_defensa.md. Presentar el caso en 30-40 s: qué vende NOCTILUZ, los tres criterios del catálogo y por qué el modo es una regla de negocio (no todas las prendas lo admiten). Decir quién ha hecho qué (debe coincidir con los commits). Cada integrante debe hablar un tiempo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las cuatro capas y por qué el precio, el IVA y el stock se calculan siempre en el servidor. Recorrer el flujo de izquierda a derecha nombrando el evento de cada paso. Estados del pedido: creado → pagado → en_preparacion → enviado → entregado (+ incidencia,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Hablan: Roberto (pasos 1-2, ≈0:45), Javier (pasos 3-5, ≈1:15) y JunJie (pasos 6-7, ≈0:45). Hacer la demo en la URL pública, no en local. Tener abiertas dos pestañas: tienda y back-office. Tras cada paso, refrescar la pestaña Eventos del back-office para enseñar que el evento aparece. Plan B si falla la red: vídeo corto grabado de antemano.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JunJie (≈0:45). Enseñar en phpMyAdmin las tablas pedidos, lineas_pedido, pagos, historial_estados y eventos con el pedido de la demo. Descargar el CSV de eventos. Explicar cómo lo consumiría otro sistema en la Tarea 2: pide GET eventos.php?desde_id=N y guarda el último id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5 y 6, ≈1:15). Ser honestos con el uso de IA: qué hizo la IA, qué errores se le detectaron y cómo se validó. Preparar la respuesta a "¿por qué no WooCommerce?" y "¿qué pasa si dos personas compran la última unidad a la vez?" (UPDATE … WHERE stock &gt;= cantidad dentro de la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en menos de 30 s. Tener preparado quién responde a cada tipo de pregunta (interfaz, API, base de datos, eventos), aunque cualquiera puede ser preguntado por cualquier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1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6400800" cy="822960"/>
          </a:xfrm>
          <a:prstGeom prst="rect">
            <a:avLst/>
          </a:prstGeom>
          <a:noFill/>
          <a:ln/>
        </p:spPr>
        <p:txBody>
          <a:bodyPr wrap="square" rtlCol="0" anchor="ctr"/>
          <a:lstStyle/>
          <a:p>
            <a:pPr indent="0" marL="0">
              <a:buNone/>
            </a:pPr>
            <a:r>
              <a:rPr lang="en-US" sz="4000" b="1" dirty="0">
                <a:solidFill>
                  <a:srgbClr val="F3F2EF"/>
                </a:solidFill>
                <a:latin typeface="Segoe UI" pitchFamily="34" charset="0"/>
                <a:ea typeface="Segoe UI" pitchFamily="34" charset="-122"/>
                <a:cs typeface="Segoe UI" pitchFamily="34" charset="-120"/>
              </a:rPr>
              <a:t>Ilumina la noche.</a:t>
            </a:r>
            <a:endParaRPr lang="en-US" sz="4000" dirty="0"/>
          </a:p>
        </p:txBody>
      </p:sp>
      <p:sp>
        <p:nvSpPr>
          <p:cNvPr id="7" name="Text 5"/>
          <p:cNvSpPr/>
          <p:nvPr/>
        </p:nvSpPr>
        <p:spPr>
          <a:xfrm>
            <a:off x="502920" y="1783080"/>
            <a:ext cx="6400800" cy="548640"/>
          </a:xfrm>
          <a:prstGeom prst="rect">
            <a:avLst/>
          </a:prstGeom>
          <a:noFill/>
          <a:ln/>
        </p:spPr>
        <p:txBody>
          <a:bodyPr wrap="square" rtlCol="0" anchor="ctr"/>
          <a:lstStyle/>
          <a:p>
            <a:pPr indent="0" marL="0">
              <a:buNone/>
            </a:pPr>
            <a:r>
              <a:rPr lang="en-US" sz="1600" dirty="0">
                <a:solidFill>
                  <a:srgbClr val="A3A2A9"/>
                </a:solidFill>
                <a:latin typeface="Segoe UI" pitchFamily="34" charset="0"/>
                <a:ea typeface="Segoe UI" pitchFamily="34" charset="-122"/>
                <a:cs typeface="Segoe UI" pitchFamily="34" charset="-120"/>
              </a:rPr>
              <a:t>Canal digital de venta instrumentado para una tienda de moda luminosa urbana</a:t>
            </a:r>
            <a:endParaRPr lang="en-US" sz="1600" dirty="0"/>
          </a:p>
        </p:txBody>
      </p:sp>
      <p:sp>
        <p:nvSpPr>
          <p:cNvPr id="8" name="Shape 6"/>
          <p:cNvSpPr/>
          <p:nvPr/>
        </p:nvSpPr>
        <p:spPr>
          <a:xfrm>
            <a:off x="502920" y="2560320"/>
            <a:ext cx="6035040" cy="3566160"/>
          </a:xfrm>
          <a:prstGeom prst="rect">
            <a:avLst/>
          </a:prstGeom>
          <a:solidFill>
            <a:srgbClr val="161719"/>
          </a:solidFill>
          <a:ln w="12700">
            <a:solidFill>
              <a:srgbClr val="2A2B31"/>
            </a:solidFill>
            <a:prstDash val="solid"/>
          </a:ln>
        </p:spPr>
        <p:txBody>
          <a:bodyPr/>
          <a:p/>
        </p:txBody>
      </p:sp>
      <p:sp>
        <p:nvSpPr>
          <p:cNvPr id="9" name="Shape 7"/>
          <p:cNvSpPr/>
          <p:nvPr/>
        </p:nvSpPr>
        <p:spPr>
          <a:xfrm>
            <a:off x="502920" y="2560320"/>
            <a:ext cx="54864" cy="3566160"/>
          </a:xfrm>
          <a:prstGeom prst="rect">
            <a:avLst/>
          </a:prstGeom>
          <a:solidFill>
            <a:srgbClr val="55DCD4"/>
          </a:solidFill>
          <a:ln w="12700">
            <a:solidFill>
              <a:srgbClr val="55DCD4"/>
            </a:solidFill>
            <a:prstDash val="solid"/>
          </a:ln>
        </p:spPr>
        <p:txBody>
          <a:bodyPr/>
          <a:p/>
        </p:txBody>
      </p:sp>
      <p:sp>
        <p:nvSpPr>
          <p:cNvPr id="10" name="Text 8"/>
          <p:cNvSpPr/>
          <p:nvPr/>
        </p:nvSpPr>
        <p:spPr>
          <a:xfrm>
            <a:off x="704088" y="2670048"/>
            <a:ext cx="571500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Caso y objetivo</a:t>
            </a:r>
            <a:endParaRPr lang="en-US" sz="1500" dirty="0"/>
          </a:p>
        </p:txBody>
      </p:sp>
      <p:sp>
        <p:nvSpPr>
          <p:cNvPr id="11" name="Text 9"/>
          <p:cNvSpPr/>
          <p:nvPr/>
        </p:nvSpPr>
        <p:spPr>
          <a:xfrm>
            <a:off x="704088" y="3108960"/>
            <a:ext cx="5669280" cy="2880360"/>
          </a:xfrm>
          <a:prstGeom prst="rect">
            <a:avLst/>
          </a:prstGeom>
          <a:noFill/>
          <a:ln/>
        </p:spPr>
        <p:txBody>
          <a:bodyPr wrap="square" rtlCol="0" anchor="t"/>
          <a:lstStyle/>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Moda urbana con LED y fibra óptica: camisetas, chaquetas, mochilas y gorras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Catálogo por tipo de prenda, color de luz y modo (fijo, parpadeo, degradado)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16 productos · 16 variantes · cada producto admite un solo modo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Objetivo: flujo de compra completo que genere datos y eventos reutilizables por otros sistemas</a:t>
            </a:r>
            <a:endParaRPr lang="en-US" sz="1300" dirty="0"/>
          </a:p>
        </p:txBody>
      </p:sp>
      <p:sp>
        <p:nvSpPr>
          <p:cNvPr id="12" name="Shape 10"/>
          <p:cNvSpPr/>
          <p:nvPr/>
        </p:nvSpPr>
        <p:spPr>
          <a:xfrm>
            <a:off x="6812280" y="1005840"/>
            <a:ext cx="4846320" cy="5120640"/>
          </a:xfrm>
          <a:prstGeom prst="rect">
            <a:avLst/>
          </a:prstGeom>
          <a:solidFill>
            <a:srgbClr val="161719"/>
          </a:solidFill>
          <a:ln w="12700">
            <a:solidFill>
              <a:srgbClr val="2A2B31"/>
            </a:solidFill>
            <a:prstDash val="solid"/>
          </a:ln>
        </p:spPr>
        <p:txBody>
          <a:bodyPr/>
          <a:p/>
        </p:txBody>
      </p:sp>
      <p:sp>
        <p:nvSpPr>
          <p:cNvPr id="13" name="Shape 11"/>
          <p:cNvSpPr/>
          <p:nvPr/>
        </p:nvSpPr>
        <p:spPr>
          <a:xfrm>
            <a:off x="6812280" y="1005840"/>
            <a:ext cx="54864" cy="5120640"/>
          </a:xfrm>
          <a:prstGeom prst="rect">
            <a:avLst/>
          </a:prstGeom>
          <a:solidFill>
            <a:srgbClr val="A594F2"/>
          </a:solidFill>
          <a:ln w="12700">
            <a:solidFill>
              <a:srgbClr val="A594F2"/>
            </a:solidFill>
            <a:prstDash val="solid"/>
          </a:ln>
        </p:spPr>
        <p:txBody>
          <a:bodyPr/>
          <a:p/>
        </p:txBody>
      </p:sp>
      <p:sp>
        <p:nvSpPr>
          <p:cNvPr id="14" name="Text 12"/>
          <p:cNvSpPr/>
          <p:nvPr/>
        </p:nvSpPr>
        <p:spPr>
          <a:xfrm>
            <a:off x="7013448" y="1115568"/>
            <a:ext cx="452628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Reparto de responsabilidades</a:t>
            </a:r>
            <a:endParaRPr lang="en-US" sz="1500" dirty="0"/>
          </a:p>
        </p:txBody>
      </p:sp>
      <p:sp>
        <p:nvSpPr>
          <p:cNvPr id="15" name="Text 13"/>
          <p:cNvSpPr/>
          <p:nvPr/>
        </p:nvSpPr>
        <p:spPr>
          <a:xfrm>
            <a:off x="7013448" y="1554480"/>
            <a:ext cx="4480560" cy="4434840"/>
          </a:xfrm>
          <a:prstGeom prst="rect">
            <a:avLst/>
          </a:prstGeom>
          <a:noFill/>
          <a:ln/>
        </p:spPr>
        <p:txBody>
          <a:bodyPr wrap="square" rtlCol="0" anchor="t"/>
          <a:lstStyle/>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Luis Galindo Buendia — Despliegue, memoria y diapositivas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Roberto Ciller Miñana — HTML inicial (ChatGPT) y fotos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Javier Zamora Lopez — Pruebas automáticas y catálogo</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JunJie Yang Jao — Back-office y diseño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2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Arquitectura y flujo funcional</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83080"/>
            <a:ext cx="2514600" cy="1417320"/>
          </a:xfrm>
          <a:prstGeom prst="rect">
            <a:avLst/>
          </a:prstGeom>
          <a:solidFill>
            <a:srgbClr val="161719"/>
          </a:solidFill>
          <a:ln w="19050">
            <a:solidFill>
              <a:srgbClr val="55DCD4"/>
            </a:solidFill>
            <a:prstDash val="solid"/>
          </a:ln>
        </p:spPr>
        <p:txBody>
          <a:bodyPr/>
          <a:p/>
        </p:txBody>
      </p:sp>
      <p:sp>
        <p:nvSpPr>
          <p:cNvPr id="8" name="Text 6"/>
          <p:cNvSpPr/>
          <p:nvPr/>
        </p:nvSpPr>
        <p:spPr>
          <a:xfrm>
            <a:off x="640080" y="1847088"/>
            <a:ext cx="2286000" cy="411480"/>
          </a:xfrm>
          <a:prstGeom prst="rect">
            <a:avLst/>
          </a:prstGeom>
          <a:noFill/>
          <a:ln/>
        </p:spPr>
        <p:txBody>
          <a:bodyPr wrap="square" rtlCol="0" anchor="ctr"/>
          <a:lstStyle/>
          <a:p>
            <a:pPr indent="0" marL="0">
              <a:buNone/>
            </a:pPr>
            <a:r>
              <a:rPr lang="en-US" sz="1600" b="1" dirty="0">
                <a:solidFill>
                  <a:srgbClr val="55DCD4"/>
                </a:solidFill>
                <a:latin typeface="Segoe UI" pitchFamily="34" charset="0"/>
                <a:ea typeface="Segoe UI" pitchFamily="34" charset="-122"/>
                <a:cs typeface="Segoe UI" pitchFamily="34" charset="-120"/>
              </a:rPr>
              <a:t>Interfaz</a:t>
            </a:r>
            <a:endParaRPr lang="en-US" sz="1600" dirty="0"/>
          </a:p>
        </p:txBody>
      </p:sp>
      <p:sp>
        <p:nvSpPr>
          <p:cNvPr id="9" name="Text 7"/>
          <p:cNvSpPr/>
          <p:nvPr/>
        </p:nvSpPr>
        <p:spPr>
          <a:xfrm>
            <a:off x="64008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index.html · admin.html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HTML + CSS + JS nativo</a:t>
            </a:r>
            <a:endParaRPr lang="en-US" sz="1200" dirty="0"/>
          </a:p>
        </p:txBody>
      </p:sp>
      <p:sp>
        <p:nvSpPr>
          <p:cNvPr id="10" name="Text 8"/>
          <p:cNvSpPr/>
          <p:nvPr/>
        </p:nvSpPr>
        <p:spPr>
          <a:xfrm>
            <a:off x="299008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1" name="Shape 9"/>
          <p:cNvSpPr/>
          <p:nvPr/>
        </p:nvSpPr>
        <p:spPr>
          <a:xfrm>
            <a:off x="3337560" y="1783080"/>
            <a:ext cx="2514600" cy="1417320"/>
          </a:xfrm>
          <a:prstGeom prst="rect">
            <a:avLst/>
          </a:prstGeom>
          <a:solidFill>
            <a:srgbClr val="161719"/>
          </a:solidFill>
          <a:ln w="19050">
            <a:solidFill>
              <a:srgbClr val="A594F2"/>
            </a:solidFill>
            <a:prstDash val="solid"/>
          </a:ln>
        </p:spPr>
        <p:txBody>
          <a:bodyPr/>
          <a:p/>
        </p:txBody>
      </p:sp>
      <p:sp>
        <p:nvSpPr>
          <p:cNvPr id="12" name="Text 10"/>
          <p:cNvSpPr/>
          <p:nvPr/>
        </p:nvSpPr>
        <p:spPr>
          <a:xfrm>
            <a:off x="3474720" y="1847088"/>
            <a:ext cx="2286000" cy="411480"/>
          </a:xfrm>
          <a:prstGeom prst="rect">
            <a:avLst/>
          </a:prstGeom>
          <a:noFill/>
          <a:ln/>
        </p:spPr>
        <p:txBody>
          <a:bodyPr wrap="square" rtlCol="0" anchor="ctr"/>
          <a:lstStyle/>
          <a:p>
            <a:pPr indent="0" marL="0">
              <a:buNone/>
            </a:pPr>
            <a:r>
              <a:rPr lang="en-US" sz="1600" b="1" dirty="0">
                <a:solidFill>
                  <a:srgbClr val="A594F2"/>
                </a:solidFill>
                <a:latin typeface="Segoe UI" pitchFamily="34" charset="0"/>
                <a:ea typeface="Segoe UI" pitchFamily="34" charset="-122"/>
                <a:cs typeface="Segoe UI" pitchFamily="34" charset="-120"/>
              </a:rPr>
              <a:t>Servicios</a:t>
            </a:r>
            <a:endParaRPr lang="en-US" sz="1600" dirty="0"/>
          </a:p>
        </p:txBody>
      </p:sp>
      <p:sp>
        <p:nvSpPr>
          <p:cNvPr id="13" name="Text 11"/>
          <p:cNvSpPr/>
          <p:nvPr/>
        </p:nvSpPr>
        <p:spPr>
          <a:xfrm>
            <a:off x="347472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api/*.php</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JSON · validación · 422</a:t>
            </a:r>
            <a:endParaRPr lang="en-US" sz="1200" dirty="0"/>
          </a:p>
        </p:txBody>
      </p:sp>
      <p:sp>
        <p:nvSpPr>
          <p:cNvPr id="14" name="Text 12"/>
          <p:cNvSpPr/>
          <p:nvPr/>
        </p:nvSpPr>
        <p:spPr>
          <a:xfrm>
            <a:off x="582472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5" name="Shape 13"/>
          <p:cNvSpPr/>
          <p:nvPr/>
        </p:nvSpPr>
        <p:spPr>
          <a:xfrm>
            <a:off x="6172200" y="1783080"/>
            <a:ext cx="2514600" cy="1417320"/>
          </a:xfrm>
          <a:prstGeom prst="rect">
            <a:avLst/>
          </a:prstGeom>
          <a:solidFill>
            <a:srgbClr val="161719"/>
          </a:solidFill>
          <a:ln w="19050">
            <a:solidFill>
              <a:srgbClr val="F3B36B"/>
            </a:solidFill>
            <a:prstDash val="solid"/>
          </a:ln>
        </p:spPr>
        <p:txBody>
          <a:bodyPr/>
          <a:p/>
        </p:txBody>
      </p:sp>
      <p:sp>
        <p:nvSpPr>
          <p:cNvPr id="16" name="Text 14"/>
          <p:cNvSpPr/>
          <p:nvPr/>
        </p:nvSpPr>
        <p:spPr>
          <a:xfrm>
            <a:off x="6309360" y="1847088"/>
            <a:ext cx="2286000" cy="411480"/>
          </a:xfrm>
          <a:prstGeom prst="rect">
            <a:avLst/>
          </a:prstGeom>
          <a:noFill/>
          <a:ln/>
        </p:spPr>
        <p:txBody>
          <a:bodyPr wrap="square" rtlCol="0" anchor="ctr"/>
          <a:lstStyle/>
          <a:p>
            <a:pPr indent="0" marL="0">
              <a:buNone/>
            </a:pPr>
            <a:r>
              <a:rPr lang="en-US" sz="1600" b="1" dirty="0">
                <a:solidFill>
                  <a:srgbClr val="F3B36B"/>
                </a:solidFill>
                <a:latin typeface="Segoe UI" pitchFamily="34" charset="0"/>
                <a:ea typeface="Segoe UI" pitchFamily="34" charset="-122"/>
                <a:cs typeface="Segoe UI" pitchFamily="34" charset="-120"/>
              </a:rPr>
              <a:t>Lógica de negocio</a:t>
            </a:r>
            <a:endParaRPr lang="en-US" sz="1600" dirty="0"/>
          </a:p>
        </p:txBody>
      </p:sp>
      <p:sp>
        <p:nvSpPr>
          <p:cNvPr id="17" name="Text 15"/>
          <p:cNvSpPr/>
          <p:nvPr/>
        </p:nvSpPr>
        <p:spPr>
          <a:xfrm>
            <a:off x="630936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app/ReglasNegocio, Pedidos,</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Pagos, Eventos…</a:t>
            </a:r>
            <a:endParaRPr lang="en-US" sz="1200" dirty="0"/>
          </a:p>
        </p:txBody>
      </p:sp>
      <p:sp>
        <p:nvSpPr>
          <p:cNvPr id="18" name="Text 16"/>
          <p:cNvSpPr/>
          <p:nvPr/>
        </p:nvSpPr>
        <p:spPr>
          <a:xfrm>
            <a:off x="865936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9" name="Shape 17"/>
          <p:cNvSpPr/>
          <p:nvPr/>
        </p:nvSpPr>
        <p:spPr>
          <a:xfrm>
            <a:off x="9006840" y="1783080"/>
            <a:ext cx="2514600" cy="1417320"/>
          </a:xfrm>
          <a:prstGeom prst="rect">
            <a:avLst/>
          </a:prstGeom>
          <a:solidFill>
            <a:srgbClr val="161719"/>
          </a:solidFill>
          <a:ln w="19050">
            <a:solidFill>
              <a:srgbClr val="BFE86E"/>
            </a:solidFill>
            <a:prstDash val="solid"/>
          </a:ln>
        </p:spPr>
        <p:txBody>
          <a:bodyPr/>
          <a:p/>
        </p:txBody>
      </p:sp>
      <p:sp>
        <p:nvSpPr>
          <p:cNvPr id="20" name="Text 18"/>
          <p:cNvSpPr/>
          <p:nvPr/>
        </p:nvSpPr>
        <p:spPr>
          <a:xfrm>
            <a:off x="9144000" y="1847088"/>
            <a:ext cx="2286000" cy="411480"/>
          </a:xfrm>
          <a:prstGeom prst="rect">
            <a:avLst/>
          </a:prstGeom>
          <a:noFill/>
          <a:ln/>
        </p:spPr>
        <p:txBody>
          <a:bodyPr wrap="square" rtlCol="0" anchor="ctr"/>
          <a:lstStyle/>
          <a:p>
            <a:pPr indent="0" marL="0">
              <a:buNone/>
            </a:pPr>
            <a:r>
              <a:rPr lang="en-US" sz="1600" b="1" dirty="0">
                <a:solidFill>
                  <a:srgbClr val="BFE86E"/>
                </a:solidFill>
                <a:latin typeface="Segoe UI" pitchFamily="34" charset="0"/>
                <a:ea typeface="Segoe UI" pitchFamily="34" charset="-122"/>
                <a:cs typeface="Segoe UI" pitchFamily="34" charset="-120"/>
              </a:rPr>
              <a:t>Persistencia</a:t>
            </a:r>
            <a:endParaRPr lang="en-US" sz="1600" dirty="0"/>
          </a:p>
        </p:txBody>
      </p:sp>
      <p:sp>
        <p:nvSpPr>
          <p:cNvPr id="21" name="Text 19"/>
          <p:cNvSpPr/>
          <p:nvPr/>
        </p:nvSpPr>
        <p:spPr>
          <a:xfrm>
            <a:off x="914400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PDO + MySQL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15 tablas · transacciones</a:t>
            </a:r>
            <a:endParaRPr lang="en-US" sz="1200" dirty="0"/>
          </a:p>
        </p:txBody>
      </p:sp>
      <p:sp>
        <p:nvSpPr>
          <p:cNvPr id="22" name="Text 20"/>
          <p:cNvSpPr/>
          <p:nvPr/>
        </p:nvSpPr>
        <p:spPr>
          <a:xfrm>
            <a:off x="502920" y="3291840"/>
            <a:ext cx="11155680" cy="365760"/>
          </a:xfrm>
          <a:prstGeom prst="rect">
            <a:avLst/>
          </a:prstGeom>
          <a:noFill/>
          <a:ln/>
        </p:spPr>
        <p:txBody>
          <a:bodyPr wrap="square" rtlCol="0" anchor="ctr"/>
          <a:lstStyle/>
          <a:p>
            <a:pPr indent="0" marL="0">
              <a:buNone/>
            </a:pPr>
            <a:r>
              <a:rPr lang="en-US" sz="1300" i="1" dirty="0">
                <a:solidFill>
                  <a:srgbClr val="A3A2A9"/>
                </a:solidFill>
                <a:latin typeface="Segoe UI" pitchFamily="34" charset="0"/>
                <a:ea typeface="Segoe UI" pitchFamily="34" charset="-122"/>
                <a:cs typeface="Segoe UI" pitchFamily="34" charset="-120"/>
              </a:rPr>
              <a:t>Hosting InfinityFree, provisional (Apache + PHP + MySQL) · el navegador nunca decide precios, impuestos ni stock</a:t>
            </a:r>
            <a:endParaRPr lang="en-US" sz="1300" dirty="0"/>
          </a:p>
        </p:txBody>
      </p:sp>
      <p:sp>
        <p:nvSpPr>
          <p:cNvPr id="23" name="Shape 21"/>
          <p:cNvSpPr/>
          <p:nvPr/>
        </p:nvSpPr>
        <p:spPr>
          <a:xfrm>
            <a:off x="502920"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4" name="Text 22"/>
          <p:cNvSpPr/>
          <p:nvPr/>
        </p:nvSpPr>
        <p:spPr>
          <a:xfrm>
            <a:off x="50292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Catálogo</a:t>
            </a:r>
            <a:endParaRPr lang="en-US" sz="1300" dirty="0"/>
          </a:p>
        </p:txBody>
      </p:sp>
      <p:sp>
        <p:nvSpPr>
          <p:cNvPr id="25" name="Text 23"/>
          <p:cNvSpPr/>
          <p:nvPr/>
        </p:nvSpPr>
        <p:spPr>
          <a:xfrm>
            <a:off x="411480"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product.viewed</a:t>
            </a:r>
            <a:endParaRPr lang="en-US" sz="900" dirty="0"/>
          </a:p>
        </p:txBody>
      </p:sp>
      <p:sp>
        <p:nvSpPr>
          <p:cNvPr id="26" name="Shape 24"/>
          <p:cNvSpPr/>
          <p:nvPr/>
        </p:nvSpPr>
        <p:spPr>
          <a:xfrm>
            <a:off x="2121408"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7" name="Text 25"/>
          <p:cNvSpPr/>
          <p:nvPr/>
        </p:nvSpPr>
        <p:spPr>
          <a:xfrm>
            <a:off x="212140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Carrito</a:t>
            </a:r>
            <a:endParaRPr lang="en-US" sz="1300" dirty="0"/>
          </a:p>
        </p:txBody>
      </p:sp>
      <p:sp>
        <p:nvSpPr>
          <p:cNvPr id="28" name="Text 26"/>
          <p:cNvSpPr/>
          <p:nvPr/>
        </p:nvSpPr>
        <p:spPr>
          <a:xfrm>
            <a:off x="2029968"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cart.item_added</a:t>
            </a:r>
            <a:endParaRPr lang="en-US" sz="900" dirty="0"/>
          </a:p>
        </p:txBody>
      </p:sp>
      <p:sp>
        <p:nvSpPr>
          <p:cNvPr id="29" name="Shape 27"/>
          <p:cNvSpPr/>
          <p:nvPr/>
        </p:nvSpPr>
        <p:spPr>
          <a:xfrm>
            <a:off x="3739896"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30" name="Text 28"/>
          <p:cNvSpPr/>
          <p:nvPr/>
        </p:nvSpPr>
        <p:spPr>
          <a:xfrm>
            <a:off x="3739896"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Checkout</a:t>
            </a:r>
            <a:endParaRPr lang="en-US" sz="1300" dirty="0"/>
          </a:p>
        </p:txBody>
      </p:sp>
      <p:sp>
        <p:nvSpPr>
          <p:cNvPr id="31" name="Text 29"/>
          <p:cNvSpPr/>
          <p:nvPr/>
        </p:nvSpPr>
        <p:spPr>
          <a:xfrm>
            <a:off x="3648456"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checkout.started</a:t>
            </a:r>
            <a:endParaRPr lang="en-US" sz="900" dirty="0"/>
          </a:p>
        </p:txBody>
      </p:sp>
      <p:sp>
        <p:nvSpPr>
          <p:cNvPr id="32" name="Shape 30"/>
          <p:cNvSpPr/>
          <p:nvPr/>
        </p:nvSpPr>
        <p:spPr>
          <a:xfrm>
            <a:off x="5358384"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3" name="Text 31"/>
          <p:cNvSpPr/>
          <p:nvPr/>
        </p:nvSpPr>
        <p:spPr>
          <a:xfrm>
            <a:off x="5358384"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Pedido</a:t>
            </a:r>
            <a:endParaRPr lang="en-US" sz="1300" dirty="0"/>
          </a:p>
        </p:txBody>
      </p:sp>
      <p:sp>
        <p:nvSpPr>
          <p:cNvPr id="34" name="Text 32"/>
          <p:cNvSpPr/>
          <p:nvPr/>
        </p:nvSpPr>
        <p:spPr>
          <a:xfrm>
            <a:off x="5266944"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order.created</a:t>
            </a:r>
            <a:endParaRPr lang="en-US" sz="900" dirty="0"/>
          </a:p>
        </p:txBody>
      </p:sp>
      <p:sp>
        <p:nvSpPr>
          <p:cNvPr id="35" name="Shape 33"/>
          <p:cNvSpPr/>
          <p:nvPr/>
        </p:nvSpPr>
        <p:spPr>
          <a:xfrm>
            <a:off x="6976872"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6" name="Text 34"/>
          <p:cNvSpPr/>
          <p:nvPr/>
        </p:nvSpPr>
        <p:spPr>
          <a:xfrm>
            <a:off x="6976872"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Pago simulado</a:t>
            </a:r>
            <a:endParaRPr lang="en-US" sz="1300" dirty="0"/>
          </a:p>
        </p:txBody>
      </p:sp>
      <p:sp>
        <p:nvSpPr>
          <p:cNvPr id="37" name="Text 35"/>
          <p:cNvSpPr/>
          <p:nvPr/>
        </p:nvSpPr>
        <p:spPr>
          <a:xfrm>
            <a:off x="6885432"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payment.simulated</a:t>
            </a:r>
            <a:endParaRPr lang="en-US" sz="900" dirty="0"/>
          </a:p>
        </p:txBody>
      </p:sp>
      <p:sp>
        <p:nvSpPr>
          <p:cNvPr id="38" name="Shape 36"/>
          <p:cNvSpPr/>
          <p:nvPr/>
        </p:nvSpPr>
        <p:spPr>
          <a:xfrm>
            <a:off x="8595360"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9" name="Text 37"/>
          <p:cNvSpPr/>
          <p:nvPr/>
        </p:nvSpPr>
        <p:spPr>
          <a:xfrm>
            <a:off x="859536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Back-office</a:t>
            </a:r>
            <a:endParaRPr lang="en-US" sz="1300" dirty="0"/>
          </a:p>
        </p:txBody>
      </p:sp>
      <p:sp>
        <p:nvSpPr>
          <p:cNvPr id="40" name="Text 38"/>
          <p:cNvSpPr/>
          <p:nvPr/>
        </p:nvSpPr>
        <p:spPr>
          <a:xfrm>
            <a:off x="8503920"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order.status_changed</a:t>
            </a:r>
            <a:endParaRPr lang="en-US" sz="900" dirty="0"/>
          </a:p>
        </p:txBody>
      </p:sp>
      <p:sp>
        <p:nvSpPr>
          <p:cNvPr id="41" name="Shape 39"/>
          <p:cNvSpPr/>
          <p:nvPr/>
        </p:nvSpPr>
        <p:spPr>
          <a:xfrm>
            <a:off x="10213848"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42" name="Text 40"/>
          <p:cNvSpPr/>
          <p:nvPr/>
        </p:nvSpPr>
        <p:spPr>
          <a:xfrm>
            <a:off x="1021384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Soporte</a:t>
            </a:r>
            <a:endParaRPr lang="en-US" sz="1300" dirty="0"/>
          </a:p>
        </p:txBody>
      </p:sp>
      <p:sp>
        <p:nvSpPr>
          <p:cNvPr id="43" name="Text 41"/>
          <p:cNvSpPr/>
          <p:nvPr/>
        </p:nvSpPr>
        <p:spPr>
          <a:xfrm>
            <a:off x="10122408"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support.requested</a:t>
            </a:r>
            <a:endParaRPr lang="en-US" sz="900" dirty="0"/>
          </a:p>
        </p:txBody>
      </p:sp>
      <p:sp>
        <p:nvSpPr>
          <p:cNvPr id="44" name="Text 42"/>
          <p:cNvSpPr/>
          <p:nvPr/>
        </p:nvSpPr>
        <p:spPr>
          <a:xfrm>
            <a:off x="502920" y="5440680"/>
            <a:ext cx="11155680" cy="365760"/>
          </a:xfrm>
          <a:prstGeom prst="rect">
            <a:avLst/>
          </a:prstGeom>
          <a:noFill/>
          <a:ln/>
        </p:spPr>
        <p:txBody>
          <a:bodyPr wrap="square" rtlCol="0" anchor="ctr"/>
          <a:lstStyle/>
          <a:p>
            <a:pPr indent="0" marL="0">
              <a:buNone/>
            </a:pPr>
            <a:r>
              <a:rPr lang="en-US" sz="1300" b="1" dirty="0">
                <a:solidFill>
                  <a:srgbClr val="55DCD4"/>
                </a:solidFill>
                <a:latin typeface="Segoe UI" pitchFamily="34" charset="0"/>
                <a:ea typeface="Segoe UI" pitchFamily="34" charset="-122"/>
                <a:cs typeface="Segoe UI" pitchFamily="34" charset="-120"/>
              </a:rPr>
              <a:t>Eventos del navegador</a:t>
            </a:r>
            <a:pPr indent="0" marL="0">
              <a:buNone/>
            </a:pPr>
            <a:r>
              <a:rPr lang="en-US" sz="1300" dirty="0">
                <a:solidFill>
                  <a:srgbClr val="A3A2A9"/>
                </a:solidFill>
                <a:latin typeface="Segoe UI" pitchFamily="34" charset="0"/>
                <a:ea typeface="Segoe UI" pitchFamily="34" charset="-122"/>
                <a:cs typeface="Segoe UI" pitchFamily="34" charset="-120"/>
              </a:rPr>
              <a:t>  ·  </a:t>
            </a:r>
            <a:pPr indent="0" marL="0">
              <a:buNone/>
            </a:pPr>
            <a:r>
              <a:rPr lang="en-US" sz="1300" b="1" dirty="0">
                <a:solidFill>
                  <a:srgbClr val="A594F2"/>
                </a:solidFill>
                <a:latin typeface="Segoe UI" pitchFamily="34" charset="0"/>
                <a:ea typeface="Segoe UI" pitchFamily="34" charset="-122"/>
                <a:cs typeface="Segoe UI" pitchFamily="34" charset="-120"/>
              </a:rPr>
              <a:t>Eventos del servidor, en la misma transacción que el dato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3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Demostración en vivo</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48640" y="1847088"/>
            <a:ext cx="384048" cy="384048"/>
          </a:xfrm>
          <a:prstGeom prst="ellipse">
            <a:avLst/>
          </a:prstGeom>
          <a:solidFill>
            <a:srgbClr val="161719"/>
          </a:solidFill>
          <a:ln w="12700">
            <a:solidFill>
              <a:srgbClr val="55DCD4"/>
            </a:solidFill>
            <a:prstDash val="solid"/>
          </a:ln>
        </p:spPr>
        <p:txBody>
          <a:bodyPr/>
          <a:p/>
        </p:txBody>
      </p:sp>
      <p:sp>
        <p:nvSpPr>
          <p:cNvPr id="8" name="Text 6"/>
          <p:cNvSpPr/>
          <p:nvPr/>
        </p:nvSpPr>
        <p:spPr>
          <a:xfrm>
            <a:off x="548640" y="184708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1</a:t>
            </a:r>
            <a:endParaRPr lang="en-US" sz="1300" dirty="0"/>
          </a:p>
        </p:txBody>
      </p:sp>
      <p:sp>
        <p:nvSpPr>
          <p:cNvPr id="9" name="Text 7"/>
          <p:cNvSpPr/>
          <p:nvPr/>
        </p:nvSpPr>
        <p:spPr>
          <a:xfrm>
            <a:off x="1097280" y="178308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Filtrar: chaquetas + luz violeta + modo degradado</a:t>
            </a:r>
            <a:endParaRPr lang="en-US" sz="1500" dirty="0"/>
          </a:p>
        </p:txBody>
      </p:sp>
      <p:sp>
        <p:nvSpPr>
          <p:cNvPr id="10" name="Text 8"/>
          <p:cNvSpPr/>
          <p:nvPr/>
        </p:nvSpPr>
        <p:spPr>
          <a:xfrm>
            <a:off x="8595360" y="178308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product.viewed</a:t>
            </a:r>
            <a:endParaRPr lang="en-US" sz="1200" dirty="0"/>
          </a:p>
        </p:txBody>
      </p:sp>
      <p:sp>
        <p:nvSpPr>
          <p:cNvPr id="11" name="Shape 9"/>
          <p:cNvSpPr/>
          <p:nvPr/>
        </p:nvSpPr>
        <p:spPr>
          <a:xfrm>
            <a:off x="548640" y="2450592"/>
            <a:ext cx="384048" cy="384048"/>
          </a:xfrm>
          <a:prstGeom prst="ellipse">
            <a:avLst/>
          </a:prstGeom>
          <a:solidFill>
            <a:srgbClr val="161719"/>
          </a:solidFill>
          <a:ln w="12700">
            <a:solidFill>
              <a:srgbClr val="55DCD4"/>
            </a:solidFill>
            <a:prstDash val="solid"/>
          </a:ln>
        </p:spPr>
        <p:txBody>
          <a:bodyPr/>
          <a:p/>
        </p:txBody>
      </p:sp>
      <p:sp>
        <p:nvSpPr>
          <p:cNvPr id="12" name="Text 10"/>
          <p:cNvSpPr/>
          <p:nvPr/>
        </p:nvSpPr>
        <p:spPr>
          <a:xfrm>
            <a:off x="548640" y="245059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2</a:t>
            </a:r>
            <a:endParaRPr lang="en-US" sz="1300" dirty="0"/>
          </a:p>
        </p:txBody>
      </p:sp>
      <p:sp>
        <p:nvSpPr>
          <p:cNvPr id="13" name="Text 11"/>
          <p:cNvSpPr/>
          <p:nvPr/>
        </p:nvSpPr>
        <p:spPr>
          <a:xfrm>
            <a:off x="1097280" y="238658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Ficha: elegir modo y talla, añadir al carrito</a:t>
            </a:r>
            <a:endParaRPr lang="en-US" sz="1500" dirty="0"/>
          </a:p>
        </p:txBody>
      </p:sp>
      <p:sp>
        <p:nvSpPr>
          <p:cNvPr id="14" name="Text 12"/>
          <p:cNvSpPr/>
          <p:nvPr/>
        </p:nvSpPr>
        <p:spPr>
          <a:xfrm>
            <a:off x="8595360" y="238658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cart.item_added</a:t>
            </a:r>
            <a:endParaRPr lang="en-US" sz="1200" dirty="0"/>
          </a:p>
        </p:txBody>
      </p:sp>
      <p:sp>
        <p:nvSpPr>
          <p:cNvPr id="15" name="Shape 13"/>
          <p:cNvSpPr/>
          <p:nvPr/>
        </p:nvSpPr>
        <p:spPr>
          <a:xfrm>
            <a:off x="548640" y="3054096"/>
            <a:ext cx="384048" cy="384048"/>
          </a:xfrm>
          <a:prstGeom prst="ellipse">
            <a:avLst/>
          </a:prstGeom>
          <a:solidFill>
            <a:srgbClr val="161719"/>
          </a:solidFill>
          <a:ln w="12700">
            <a:solidFill>
              <a:srgbClr val="55DCD4"/>
            </a:solidFill>
            <a:prstDash val="solid"/>
          </a:ln>
        </p:spPr>
        <p:txBody>
          <a:bodyPr/>
          <a:p/>
        </p:txBody>
      </p:sp>
      <p:sp>
        <p:nvSpPr>
          <p:cNvPr id="16" name="Text 14"/>
          <p:cNvSpPr/>
          <p:nvPr/>
        </p:nvSpPr>
        <p:spPr>
          <a:xfrm>
            <a:off x="548640" y="3054096"/>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3</a:t>
            </a:r>
            <a:endParaRPr lang="en-US" sz="1300" dirty="0"/>
          </a:p>
        </p:txBody>
      </p:sp>
      <p:sp>
        <p:nvSpPr>
          <p:cNvPr id="17" name="Text 15"/>
          <p:cNvSpPr/>
          <p:nvPr/>
        </p:nvSpPr>
        <p:spPr>
          <a:xfrm>
            <a:off x="1097280" y="2990088"/>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Checkout: datos de prueba, cupón NOCHE10, IVA desglosado</a:t>
            </a:r>
            <a:endParaRPr lang="en-US" sz="1500" dirty="0"/>
          </a:p>
        </p:txBody>
      </p:sp>
      <p:sp>
        <p:nvSpPr>
          <p:cNvPr id="18" name="Text 16"/>
          <p:cNvSpPr/>
          <p:nvPr/>
        </p:nvSpPr>
        <p:spPr>
          <a:xfrm>
            <a:off x="8595360" y="2990088"/>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checkout.started</a:t>
            </a:r>
            <a:endParaRPr lang="en-US" sz="1200" dirty="0"/>
          </a:p>
        </p:txBody>
      </p:sp>
      <p:sp>
        <p:nvSpPr>
          <p:cNvPr id="19" name="Shape 17"/>
          <p:cNvSpPr/>
          <p:nvPr/>
        </p:nvSpPr>
        <p:spPr>
          <a:xfrm>
            <a:off x="548640" y="3657600"/>
            <a:ext cx="384048" cy="384048"/>
          </a:xfrm>
          <a:prstGeom prst="ellipse">
            <a:avLst/>
          </a:prstGeom>
          <a:solidFill>
            <a:srgbClr val="161719"/>
          </a:solidFill>
          <a:ln w="12700">
            <a:solidFill>
              <a:srgbClr val="55DCD4"/>
            </a:solidFill>
            <a:prstDash val="solid"/>
          </a:ln>
        </p:spPr>
        <p:txBody>
          <a:bodyPr/>
          <a:p/>
        </p:txBody>
      </p:sp>
      <p:sp>
        <p:nvSpPr>
          <p:cNvPr id="20" name="Text 18"/>
          <p:cNvSpPr/>
          <p:nvPr/>
        </p:nvSpPr>
        <p:spPr>
          <a:xfrm>
            <a:off x="548640" y="3657600"/>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4</a:t>
            </a:r>
            <a:endParaRPr lang="en-US" sz="1300" dirty="0"/>
          </a:p>
        </p:txBody>
      </p:sp>
      <p:sp>
        <p:nvSpPr>
          <p:cNvPr id="21" name="Text 19"/>
          <p:cNvSpPr/>
          <p:nvPr/>
        </p:nvSpPr>
        <p:spPr>
          <a:xfrm>
            <a:off x="1097280" y="3593592"/>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Confirmar → código NCZ-AAMMDD-XXXXXX</a:t>
            </a:r>
            <a:endParaRPr lang="en-US" sz="1500" dirty="0"/>
          </a:p>
        </p:txBody>
      </p:sp>
      <p:sp>
        <p:nvSpPr>
          <p:cNvPr id="22" name="Text 20"/>
          <p:cNvSpPr/>
          <p:nvPr/>
        </p:nvSpPr>
        <p:spPr>
          <a:xfrm>
            <a:off x="8595360" y="3593592"/>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order.created</a:t>
            </a:r>
            <a:endParaRPr lang="en-US" sz="1200" dirty="0"/>
          </a:p>
        </p:txBody>
      </p:sp>
      <p:sp>
        <p:nvSpPr>
          <p:cNvPr id="23" name="Shape 21"/>
          <p:cNvSpPr/>
          <p:nvPr/>
        </p:nvSpPr>
        <p:spPr>
          <a:xfrm>
            <a:off x="548640" y="4261104"/>
            <a:ext cx="384048" cy="384048"/>
          </a:xfrm>
          <a:prstGeom prst="ellipse">
            <a:avLst/>
          </a:prstGeom>
          <a:solidFill>
            <a:srgbClr val="161719"/>
          </a:solidFill>
          <a:ln w="12700">
            <a:solidFill>
              <a:srgbClr val="55DCD4"/>
            </a:solidFill>
            <a:prstDash val="solid"/>
          </a:ln>
        </p:spPr>
        <p:txBody>
          <a:bodyPr/>
          <a:p/>
        </p:txBody>
      </p:sp>
      <p:sp>
        <p:nvSpPr>
          <p:cNvPr id="24" name="Text 22"/>
          <p:cNvSpPr/>
          <p:nvPr/>
        </p:nvSpPr>
        <p:spPr>
          <a:xfrm>
            <a:off x="548640" y="4261104"/>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5</a:t>
            </a:r>
            <a:endParaRPr lang="en-US" sz="1300" dirty="0"/>
          </a:p>
        </p:txBody>
      </p:sp>
      <p:sp>
        <p:nvSpPr>
          <p:cNvPr id="25" name="Text 23"/>
          <p:cNvSpPr/>
          <p:nvPr/>
        </p:nvSpPr>
        <p:spPr>
          <a:xfrm>
            <a:off x="1097280" y="4197096"/>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Pagar con 4000…0002 (rechazada) y 4242…4242 (aprobada)</a:t>
            </a:r>
            <a:endParaRPr lang="en-US" sz="1500" dirty="0"/>
          </a:p>
        </p:txBody>
      </p:sp>
      <p:sp>
        <p:nvSpPr>
          <p:cNvPr id="26" name="Text 24"/>
          <p:cNvSpPr/>
          <p:nvPr/>
        </p:nvSpPr>
        <p:spPr>
          <a:xfrm>
            <a:off x="8595360" y="4197096"/>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payment.simulated</a:t>
            </a:r>
            <a:endParaRPr lang="en-US" sz="1200" dirty="0"/>
          </a:p>
        </p:txBody>
      </p:sp>
      <p:sp>
        <p:nvSpPr>
          <p:cNvPr id="27" name="Shape 25"/>
          <p:cNvSpPr/>
          <p:nvPr/>
        </p:nvSpPr>
        <p:spPr>
          <a:xfrm>
            <a:off x="548640" y="4864608"/>
            <a:ext cx="384048" cy="384048"/>
          </a:xfrm>
          <a:prstGeom prst="ellipse">
            <a:avLst/>
          </a:prstGeom>
          <a:solidFill>
            <a:srgbClr val="161719"/>
          </a:solidFill>
          <a:ln w="12700">
            <a:solidFill>
              <a:srgbClr val="55DCD4"/>
            </a:solidFill>
            <a:prstDash val="solid"/>
          </a:ln>
        </p:spPr>
        <p:txBody>
          <a:bodyPr/>
          <a:p/>
        </p:txBody>
      </p:sp>
      <p:sp>
        <p:nvSpPr>
          <p:cNvPr id="28" name="Text 26"/>
          <p:cNvSpPr/>
          <p:nvPr/>
        </p:nvSpPr>
        <p:spPr>
          <a:xfrm>
            <a:off x="548640" y="486460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6</a:t>
            </a:r>
            <a:endParaRPr lang="en-US" sz="1300" dirty="0"/>
          </a:p>
        </p:txBody>
      </p:sp>
      <p:sp>
        <p:nvSpPr>
          <p:cNvPr id="29" name="Text 27"/>
          <p:cNvSpPr/>
          <p:nvPr/>
        </p:nvSpPr>
        <p:spPr>
          <a:xfrm>
            <a:off x="1097280" y="480060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Back-office: pedido pagado → en preparación → enviado</a:t>
            </a:r>
            <a:endParaRPr lang="en-US" sz="1500" dirty="0"/>
          </a:p>
        </p:txBody>
      </p:sp>
      <p:sp>
        <p:nvSpPr>
          <p:cNvPr id="30" name="Text 28"/>
          <p:cNvSpPr/>
          <p:nvPr/>
        </p:nvSpPr>
        <p:spPr>
          <a:xfrm>
            <a:off x="8595360" y="480060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order.status_changed</a:t>
            </a:r>
            <a:endParaRPr lang="en-US" sz="1200" dirty="0"/>
          </a:p>
        </p:txBody>
      </p:sp>
      <p:sp>
        <p:nvSpPr>
          <p:cNvPr id="31" name="Shape 29"/>
          <p:cNvSpPr/>
          <p:nvPr/>
        </p:nvSpPr>
        <p:spPr>
          <a:xfrm>
            <a:off x="548640" y="5468112"/>
            <a:ext cx="384048" cy="384048"/>
          </a:xfrm>
          <a:prstGeom prst="ellipse">
            <a:avLst/>
          </a:prstGeom>
          <a:solidFill>
            <a:srgbClr val="161719"/>
          </a:solidFill>
          <a:ln w="12700">
            <a:solidFill>
              <a:srgbClr val="55DCD4"/>
            </a:solidFill>
            <a:prstDash val="solid"/>
          </a:ln>
        </p:spPr>
        <p:txBody>
          <a:bodyPr/>
          <a:p/>
        </p:txBody>
      </p:sp>
      <p:sp>
        <p:nvSpPr>
          <p:cNvPr id="32" name="Text 30"/>
          <p:cNvSpPr/>
          <p:nvPr/>
        </p:nvSpPr>
        <p:spPr>
          <a:xfrm>
            <a:off x="548640" y="546811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7</a:t>
            </a:r>
            <a:endParaRPr lang="en-US" sz="1300" dirty="0"/>
          </a:p>
        </p:txBody>
      </p:sp>
      <p:sp>
        <p:nvSpPr>
          <p:cNvPr id="33" name="Text 31"/>
          <p:cNvSpPr/>
          <p:nvPr/>
        </p:nvSpPr>
        <p:spPr>
          <a:xfrm>
            <a:off x="1097280" y="540410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Soporte con el código del pedido; ver eventos y embudo</a:t>
            </a:r>
            <a:endParaRPr lang="en-US" sz="1500" dirty="0"/>
          </a:p>
        </p:txBody>
      </p:sp>
      <p:sp>
        <p:nvSpPr>
          <p:cNvPr id="34" name="Text 32"/>
          <p:cNvSpPr/>
          <p:nvPr/>
        </p:nvSpPr>
        <p:spPr>
          <a:xfrm>
            <a:off x="8595360" y="540410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support.requested</a:t>
            </a:r>
            <a:endParaRPr lang="en-US" sz="1200" dirty="0"/>
          </a:p>
        </p:txBody>
      </p:sp>
      <p:sp>
        <p:nvSpPr>
          <p:cNvPr id="35" name="Text 33"/>
          <p:cNvSpPr/>
          <p:nvPr/>
        </p:nvSpPr>
        <p:spPr>
          <a:xfrm>
            <a:off x="502920" y="6035040"/>
            <a:ext cx="11155680" cy="320040"/>
          </a:xfrm>
          <a:prstGeom prst="rect">
            <a:avLst/>
          </a:prstGeom>
          <a:noFill/>
          <a:ln/>
        </p:spPr>
        <p:txBody>
          <a:bodyPr wrap="square" rtlCol="0" anchor="ctr"/>
          <a:lstStyle/>
          <a:p>
            <a:pPr indent="0" marL="0">
              <a:buNone/>
            </a:pPr>
            <a:r>
              <a:rPr lang="en-US" sz="1200" dirty="0">
                <a:solidFill>
                  <a:srgbClr val="F3B36B"/>
                </a:solidFill>
                <a:latin typeface="Segoe UI" pitchFamily="34" charset="0"/>
                <a:ea typeface="Segoe UI" pitchFamily="34" charset="-122"/>
                <a:cs typeface="Segoe UI" pitchFamily="34" charset="-120"/>
              </a:rPr>
              <a:t>URL: https://algo.free.je · Back-office: /admin.html · admin@noctiluz.test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4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Evidencias técnicas</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6720840" cy="4160520"/>
          </a:xfrm>
          <a:prstGeom prst="rect">
            <a:avLst/>
          </a:prstGeom>
          <a:solidFill>
            <a:srgbClr val="FFFFFF"/>
          </a:solidFill>
          <a:ln w="12700">
            <a:solidFill>
              <a:srgbClr val="2A2B31"/>
            </a:solidFill>
            <a:prstDash val="solid"/>
          </a:ln>
        </p:spPr>
        <p:txBody>
          <a:bodyPr/>
          <a:p/>
        </p:txBody>
      </p:sp>
      <p:pic>
        <p:nvPicPr>
          <p:cNvPr id="8" name="Image 0" descr="C:/Users/FX517/Documents/Trabajo de clase/Tarea 1 SDE/entrega_final/docs/modelo_datos.png">    </p:cNvPr>
          <p:cNvPicPr>
            <a:picLocks noChangeAspect="1"/>
          </p:cNvPicPr>
          <p:nvPr/>
        </p:nvPicPr>
        <p:blipFill>
          <a:blip r:embed="rId1"/>
          <a:stretch>
            <a:fillRect/>
          </a:stretch>
        </p:blipFill>
        <p:spPr>
          <a:xfrm>
            <a:off x="566928" y="1828800"/>
            <a:ext cx="6583680" cy="3840480"/>
          </a:xfrm>
          <a:prstGeom prst="rect">
            <a:avLst/>
          </a:prstGeom>
        </p:spPr>
      </p:pic>
      <p:sp>
        <p:nvSpPr>
          <p:cNvPr id="9" name="Text 6"/>
          <p:cNvSpPr/>
          <p:nvPr/>
        </p:nvSpPr>
        <p:spPr>
          <a:xfrm>
            <a:off x="502920" y="5943600"/>
            <a:ext cx="6720840" cy="320040"/>
          </a:xfrm>
          <a:prstGeom prst="rect">
            <a:avLst/>
          </a:prstGeom>
          <a:noFill/>
          <a:ln/>
        </p:spPr>
        <p:txBody>
          <a:bodyPr wrap="square" rtlCol="0" anchor="ctr"/>
          <a:lstStyle/>
          <a:p>
            <a:pPr algn="ctr" indent="0" marL="0">
              <a:buNone/>
            </a:pPr>
            <a:r>
              <a:rPr lang="en-US" sz="1100" dirty="0">
                <a:solidFill>
                  <a:srgbClr val="A3A2A9"/>
                </a:solidFill>
                <a:latin typeface="Segoe UI" pitchFamily="34" charset="0"/>
                <a:ea typeface="Segoe UI" pitchFamily="34" charset="-122"/>
                <a:cs typeface="Segoe UI" pitchFamily="34" charset="-120"/>
              </a:rPr>
              <a:t>Modelo de datos: maestros · transaccionales · eventos</a:t>
            </a:r>
            <a:endParaRPr lang="en-US" sz="1100" dirty="0"/>
          </a:p>
        </p:txBody>
      </p:sp>
      <p:sp>
        <p:nvSpPr>
          <p:cNvPr id="10" name="Shape 7"/>
          <p:cNvSpPr/>
          <p:nvPr/>
        </p:nvSpPr>
        <p:spPr>
          <a:xfrm>
            <a:off x="7452360" y="1737360"/>
            <a:ext cx="4206240" cy="1325880"/>
          </a:xfrm>
          <a:prstGeom prst="rect">
            <a:avLst/>
          </a:prstGeom>
          <a:solidFill>
            <a:srgbClr val="161719"/>
          </a:solidFill>
          <a:ln w="12700">
            <a:solidFill>
              <a:srgbClr val="2A2B31"/>
            </a:solidFill>
            <a:prstDash val="solid"/>
          </a:ln>
        </p:spPr>
        <p:txBody>
          <a:bodyPr/>
          <a:p/>
        </p:txBody>
      </p:sp>
      <p:sp>
        <p:nvSpPr>
          <p:cNvPr id="11" name="Shape 8"/>
          <p:cNvSpPr/>
          <p:nvPr/>
        </p:nvSpPr>
        <p:spPr>
          <a:xfrm>
            <a:off x="7452360" y="1737360"/>
            <a:ext cx="54864" cy="1325880"/>
          </a:xfrm>
          <a:prstGeom prst="rect">
            <a:avLst/>
          </a:prstGeom>
          <a:solidFill>
            <a:srgbClr val="BFE86E"/>
          </a:solidFill>
          <a:ln w="12700">
            <a:solidFill>
              <a:srgbClr val="BFE86E"/>
            </a:solidFill>
            <a:prstDash val="solid"/>
          </a:ln>
        </p:spPr>
        <p:txBody>
          <a:bodyPr/>
          <a:p/>
        </p:txBody>
      </p:sp>
      <p:sp>
        <p:nvSpPr>
          <p:cNvPr id="12" name="Text 9"/>
          <p:cNvSpPr/>
          <p:nvPr/>
        </p:nvSpPr>
        <p:spPr>
          <a:xfrm>
            <a:off x="7653528" y="1847088"/>
            <a:ext cx="3886200" cy="411480"/>
          </a:xfrm>
          <a:prstGeom prst="rect">
            <a:avLst/>
          </a:prstGeom>
          <a:noFill/>
          <a:ln/>
        </p:spPr>
        <p:txBody>
          <a:bodyPr wrap="square" rtlCol="0" anchor="ctr"/>
          <a:lstStyle/>
          <a:p>
            <a:pPr indent="0" marL="0">
              <a:buNone/>
            </a:pPr>
            <a:r>
              <a:rPr lang="en-US" sz="1500" b="1" dirty="0">
                <a:solidFill>
                  <a:srgbClr val="BFE86E"/>
                </a:solidFill>
                <a:latin typeface="Segoe UI" pitchFamily="34" charset="0"/>
                <a:ea typeface="Segoe UI" pitchFamily="34" charset="-122"/>
                <a:cs typeface="Segoe UI" pitchFamily="34" charset="-120"/>
              </a:rPr>
              <a:t>Datos persistidos</a:t>
            </a:r>
            <a:endParaRPr lang="en-US" sz="1500" dirty="0"/>
          </a:p>
        </p:txBody>
      </p:sp>
      <p:sp>
        <p:nvSpPr>
          <p:cNvPr id="13" name="Text 10"/>
          <p:cNvSpPr/>
          <p:nvPr/>
        </p:nvSpPr>
        <p:spPr>
          <a:xfrm>
            <a:off x="7653528" y="2286000"/>
            <a:ext cx="3840480" cy="64008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MySQL · 15 tablas con claves foráneas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Pedido = 1 transacción (stock + historial + evento)</a:t>
            </a:r>
            <a:endParaRPr lang="en-US" sz="1200" dirty="0"/>
          </a:p>
        </p:txBody>
      </p:sp>
      <p:sp>
        <p:nvSpPr>
          <p:cNvPr id="14" name="Shape 11"/>
          <p:cNvSpPr/>
          <p:nvPr/>
        </p:nvSpPr>
        <p:spPr>
          <a:xfrm>
            <a:off x="7452360" y="3200400"/>
            <a:ext cx="4206240" cy="1417320"/>
          </a:xfrm>
          <a:prstGeom prst="rect">
            <a:avLst/>
          </a:prstGeom>
          <a:solidFill>
            <a:srgbClr val="161719"/>
          </a:solidFill>
          <a:ln w="12700">
            <a:solidFill>
              <a:srgbClr val="2A2B31"/>
            </a:solidFill>
            <a:prstDash val="solid"/>
          </a:ln>
        </p:spPr>
        <p:txBody>
          <a:bodyPr/>
          <a:p/>
        </p:txBody>
      </p:sp>
      <p:sp>
        <p:nvSpPr>
          <p:cNvPr id="15" name="Shape 12"/>
          <p:cNvSpPr/>
          <p:nvPr/>
        </p:nvSpPr>
        <p:spPr>
          <a:xfrm>
            <a:off x="7452360" y="3200400"/>
            <a:ext cx="54864" cy="1417320"/>
          </a:xfrm>
          <a:prstGeom prst="rect">
            <a:avLst/>
          </a:prstGeom>
          <a:solidFill>
            <a:srgbClr val="A594F2"/>
          </a:solidFill>
          <a:ln w="12700">
            <a:solidFill>
              <a:srgbClr val="A594F2"/>
            </a:solidFill>
            <a:prstDash val="solid"/>
          </a:ln>
        </p:spPr>
        <p:txBody>
          <a:bodyPr/>
          <a:p/>
        </p:txBody>
      </p:sp>
      <p:sp>
        <p:nvSpPr>
          <p:cNvPr id="16" name="Text 13"/>
          <p:cNvSpPr/>
          <p:nvPr/>
        </p:nvSpPr>
        <p:spPr>
          <a:xfrm>
            <a:off x="7653528" y="3310128"/>
            <a:ext cx="388620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Eventos</a:t>
            </a:r>
            <a:endParaRPr lang="en-US" sz="1500" dirty="0"/>
          </a:p>
        </p:txBody>
      </p:sp>
      <p:sp>
        <p:nvSpPr>
          <p:cNvPr id="17" name="Text 14"/>
          <p:cNvSpPr/>
          <p:nvPr/>
        </p:nvSpPr>
        <p:spPr>
          <a:xfrm>
            <a:off x="7653528" y="3749040"/>
            <a:ext cx="3840480" cy="73152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Tabla eventos: uuid, tipo, origen, sesión, datos JSON</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Exportación CSV/JSON · lectura por cursor desde_id</a:t>
            </a:r>
            <a:endParaRPr lang="en-US" sz="1200" dirty="0"/>
          </a:p>
        </p:txBody>
      </p:sp>
      <p:sp>
        <p:nvSpPr>
          <p:cNvPr id="18" name="Shape 15"/>
          <p:cNvSpPr/>
          <p:nvPr/>
        </p:nvSpPr>
        <p:spPr>
          <a:xfrm>
            <a:off x="7452360" y="4754880"/>
            <a:ext cx="4206240" cy="1143000"/>
          </a:xfrm>
          <a:prstGeom prst="rect">
            <a:avLst/>
          </a:prstGeom>
          <a:solidFill>
            <a:srgbClr val="161719"/>
          </a:solidFill>
          <a:ln w="12700">
            <a:solidFill>
              <a:srgbClr val="2A2B31"/>
            </a:solidFill>
            <a:prstDash val="solid"/>
          </a:ln>
        </p:spPr>
        <p:txBody>
          <a:bodyPr/>
          <a:p/>
        </p:txBody>
      </p:sp>
      <p:sp>
        <p:nvSpPr>
          <p:cNvPr id="19" name="Shape 16"/>
          <p:cNvSpPr/>
          <p:nvPr/>
        </p:nvSpPr>
        <p:spPr>
          <a:xfrm>
            <a:off x="7452360" y="4754880"/>
            <a:ext cx="54864" cy="1143000"/>
          </a:xfrm>
          <a:prstGeom prst="rect">
            <a:avLst/>
          </a:prstGeom>
          <a:solidFill>
            <a:srgbClr val="F3B36B"/>
          </a:solidFill>
          <a:ln w="12700">
            <a:solidFill>
              <a:srgbClr val="F3B36B"/>
            </a:solidFill>
            <a:prstDash val="solid"/>
          </a:ln>
        </p:spPr>
        <p:txBody>
          <a:bodyPr/>
          <a:p/>
        </p:txBody>
      </p:sp>
      <p:sp>
        <p:nvSpPr>
          <p:cNvPr id="20" name="Text 17"/>
          <p:cNvSpPr/>
          <p:nvPr/>
        </p:nvSpPr>
        <p:spPr>
          <a:xfrm>
            <a:off x="7653528" y="4864608"/>
            <a:ext cx="388620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Métricas</a:t>
            </a:r>
            <a:endParaRPr lang="en-US" sz="1500" dirty="0"/>
          </a:p>
        </p:txBody>
      </p:sp>
      <p:sp>
        <p:nvSpPr>
          <p:cNvPr id="21" name="Text 18"/>
          <p:cNvSpPr/>
          <p:nvPr/>
        </p:nvSpPr>
        <p:spPr>
          <a:xfrm>
            <a:off x="7653528" y="5303520"/>
            <a:ext cx="3840480" cy="45720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Embudo por sesión, facturación, ticket medio, stock bajo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5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Limitaciones, decisiones e IA</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3611880" cy="3291840"/>
          </a:xfrm>
          <a:prstGeom prst="rect">
            <a:avLst/>
          </a:prstGeom>
          <a:solidFill>
            <a:srgbClr val="161719"/>
          </a:solidFill>
          <a:ln w="12700">
            <a:solidFill>
              <a:srgbClr val="2A2B31"/>
            </a:solidFill>
            <a:prstDash val="solid"/>
          </a:ln>
        </p:spPr>
        <p:txBody>
          <a:bodyPr/>
          <a:p/>
        </p:txBody>
      </p:sp>
      <p:sp>
        <p:nvSpPr>
          <p:cNvPr id="8" name="Shape 6"/>
          <p:cNvSpPr/>
          <p:nvPr/>
        </p:nvSpPr>
        <p:spPr>
          <a:xfrm>
            <a:off x="502920" y="1737360"/>
            <a:ext cx="54864" cy="3291840"/>
          </a:xfrm>
          <a:prstGeom prst="rect">
            <a:avLst/>
          </a:prstGeom>
          <a:solidFill>
            <a:srgbClr val="55DCD4"/>
          </a:solidFill>
          <a:ln w="12700">
            <a:solidFill>
              <a:srgbClr val="55DCD4"/>
            </a:solidFill>
            <a:prstDash val="solid"/>
          </a:ln>
        </p:spPr>
        <p:txBody>
          <a:bodyPr/>
          <a:p/>
        </p:txBody>
      </p:sp>
      <p:sp>
        <p:nvSpPr>
          <p:cNvPr id="9" name="Text 7"/>
          <p:cNvSpPr/>
          <p:nvPr/>
        </p:nvSpPr>
        <p:spPr>
          <a:xfrm>
            <a:off x="704088" y="1847088"/>
            <a:ext cx="329184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Decisiones críticas</a:t>
            </a:r>
            <a:endParaRPr lang="en-US" sz="1500" dirty="0"/>
          </a:p>
        </p:txBody>
      </p:sp>
      <p:sp>
        <p:nvSpPr>
          <p:cNvPr id="10" name="Text 8"/>
          <p:cNvSpPr/>
          <p:nvPr/>
        </p:nvSpPr>
        <p:spPr>
          <a:xfrm>
            <a:off x="70408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PHP + MySQL: lo que ofrece el hosting, sin VPS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Desarrollo propio en vez de WooCommerce: el modelo de datos queda visible</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Pasarela simulada: sin claves de terceros; solo se guardan 4 dígitos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Eventos en BD: misma transacción que el negocio</a:t>
            </a:r>
            <a:endParaRPr lang="en-US" sz="1200" dirty="0"/>
          </a:p>
        </p:txBody>
      </p:sp>
      <p:sp>
        <p:nvSpPr>
          <p:cNvPr id="11" name="Shape 9"/>
          <p:cNvSpPr/>
          <p:nvPr/>
        </p:nvSpPr>
        <p:spPr>
          <a:xfrm>
            <a:off x="4297680" y="1737360"/>
            <a:ext cx="3611880" cy="3291840"/>
          </a:xfrm>
          <a:prstGeom prst="rect">
            <a:avLst/>
          </a:prstGeom>
          <a:solidFill>
            <a:srgbClr val="161719"/>
          </a:solidFill>
          <a:ln w="12700">
            <a:solidFill>
              <a:srgbClr val="2A2B31"/>
            </a:solidFill>
            <a:prstDash val="solid"/>
          </a:ln>
        </p:spPr>
        <p:txBody>
          <a:bodyPr/>
          <a:p/>
        </p:txBody>
      </p:sp>
      <p:sp>
        <p:nvSpPr>
          <p:cNvPr id="12" name="Shape 10"/>
          <p:cNvSpPr/>
          <p:nvPr/>
        </p:nvSpPr>
        <p:spPr>
          <a:xfrm>
            <a:off x="4297680" y="1737360"/>
            <a:ext cx="54864" cy="3291840"/>
          </a:xfrm>
          <a:prstGeom prst="rect">
            <a:avLst/>
          </a:prstGeom>
          <a:solidFill>
            <a:srgbClr val="F27FAA"/>
          </a:solidFill>
          <a:ln w="12700">
            <a:solidFill>
              <a:srgbClr val="F27FAA"/>
            </a:solidFill>
            <a:prstDash val="solid"/>
          </a:ln>
        </p:spPr>
        <p:txBody>
          <a:bodyPr/>
          <a:p/>
        </p:txBody>
      </p:sp>
      <p:sp>
        <p:nvSpPr>
          <p:cNvPr id="13" name="Text 11"/>
          <p:cNvSpPr/>
          <p:nvPr/>
        </p:nvSpPr>
        <p:spPr>
          <a:xfrm>
            <a:off x="4498848" y="1847088"/>
            <a:ext cx="3291840" cy="411480"/>
          </a:xfrm>
          <a:prstGeom prst="rect">
            <a:avLst/>
          </a:prstGeom>
          <a:noFill/>
          <a:ln/>
        </p:spPr>
        <p:txBody>
          <a:bodyPr wrap="square" rtlCol="0" anchor="ctr"/>
          <a:lstStyle/>
          <a:p>
            <a:pPr indent="0" marL="0">
              <a:buNone/>
            </a:pPr>
            <a:r>
              <a:rPr lang="en-US" sz="1500" b="1" dirty="0">
                <a:solidFill>
                  <a:srgbClr val="F27FAA"/>
                </a:solidFill>
                <a:latin typeface="Segoe UI" pitchFamily="34" charset="0"/>
                <a:ea typeface="Segoe UI" pitchFamily="34" charset="-122"/>
                <a:cs typeface="Segoe UI" pitchFamily="34" charset="-120"/>
              </a:rPr>
              <a:t>Limitaciones</a:t>
            </a:r>
            <a:endParaRPr lang="en-US" sz="1500" dirty="0"/>
          </a:p>
        </p:txBody>
      </p:sp>
      <p:sp>
        <p:nvSpPr>
          <p:cNvPr id="14" name="Text 12"/>
          <p:cNvSpPr/>
          <p:nvPr/>
        </p:nvSpPr>
        <p:spPr>
          <a:xfrm>
            <a:off x="449884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Pago simulado, sin pasarela real</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cuentas de cliente ni emails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Una sola cuenta de back-office de prueba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límite de peticiones en eventos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Fotos de baja resolución</a:t>
            </a:r>
            <a:endParaRPr lang="en-US" sz="1200" dirty="0"/>
          </a:p>
        </p:txBody>
      </p:sp>
      <p:sp>
        <p:nvSpPr>
          <p:cNvPr id="15" name="Shape 13"/>
          <p:cNvSpPr/>
          <p:nvPr/>
        </p:nvSpPr>
        <p:spPr>
          <a:xfrm>
            <a:off x="8092440" y="1737360"/>
            <a:ext cx="3566160" cy="3291840"/>
          </a:xfrm>
          <a:prstGeom prst="rect">
            <a:avLst/>
          </a:prstGeom>
          <a:solidFill>
            <a:srgbClr val="161719"/>
          </a:solidFill>
          <a:ln w="12700">
            <a:solidFill>
              <a:srgbClr val="2A2B31"/>
            </a:solidFill>
            <a:prstDash val="solid"/>
          </a:ln>
        </p:spPr>
        <p:txBody>
          <a:bodyPr/>
          <a:p/>
        </p:txBody>
      </p:sp>
      <p:sp>
        <p:nvSpPr>
          <p:cNvPr id="16" name="Shape 14"/>
          <p:cNvSpPr/>
          <p:nvPr/>
        </p:nvSpPr>
        <p:spPr>
          <a:xfrm>
            <a:off x="8092440" y="1737360"/>
            <a:ext cx="54864" cy="3291840"/>
          </a:xfrm>
          <a:prstGeom prst="rect">
            <a:avLst/>
          </a:prstGeom>
          <a:solidFill>
            <a:srgbClr val="F3B36B"/>
          </a:solidFill>
          <a:ln w="12700">
            <a:solidFill>
              <a:srgbClr val="F3B36B"/>
            </a:solidFill>
            <a:prstDash val="solid"/>
          </a:ln>
        </p:spPr>
        <p:txBody>
          <a:bodyPr/>
          <a:p/>
        </p:txBody>
      </p:sp>
      <p:sp>
        <p:nvSpPr>
          <p:cNvPr id="17" name="Text 15"/>
          <p:cNvSpPr/>
          <p:nvPr/>
        </p:nvSpPr>
        <p:spPr>
          <a:xfrm>
            <a:off x="8293608" y="1847088"/>
            <a:ext cx="324612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Uso de IA</a:t>
            </a:r>
            <a:endParaRPr lang="en-US" sz="1500" dirty="0"/>
          </a:p>
        </p:txBody>
      </p:sp>
      <p:sp>
        <p:nvSpPr>
          <p:cNvPr id="18" name="Text 16"/>
          <p:cNvSpPr/>
          <p:nvPr/>
        </p:nvSpPr>
        <p:spPr>
          <a:xfrm>
            <a:off x="8293608" y="2286000"/>
            <a:ext cx="320040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Versión inicial del HTML generada con ChatGPT</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Claude Code: arquitectura, código, datos de prueba y borradores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Errores detectados: filtro de modo, manejadores duplicados, repintado continuo…</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Validado con pruebas del flujo y de la API</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Reflexión: la IA comete errores y exige validación humana (filtro de modos, importes en el hosting, alojamiento sin PHP)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6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1097280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Conclusión</a:t>
            </a:r>
            <a:endParaRPr lang="en-US" sz="3000" dirty="0"/>
          </a:p>
        </p:txBody>
      </p:sp>
      <p:sp>
        <p:nvSpPr>
          <p:cNvPr id="7" name="Text 5"/>
          <p:cNvSpPr/>
          <p:nvPr/>
        </p:nvSpPr>
        <p:spPr>
          <a:xfrm>
            <a:off x="502920" y="1920240"/>
            <a:ext cx="10972800" cy="2743200"/>
          </a:xfrm>
          <a:prstGeom prst="rect">
            <a:avLst/>
          </a:prstGeom>
          <a:noFill/>
          <a:ln/>
        </p:spPr>
        <p:txBody>
          <a:bodyPr wrap="square" rtlCol="0" anchor="t"/>
          <a:lstStyle/>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Flujo de compra completo y desplegado en un dominio público.</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Reglas de negocio en el servidor: IVA, envío, cupones, stock y estados.</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Cada paso deja datos y eventos trazables, listos para integrarse en la Tarea 2.</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Aprendizaje principal: un canal de venta se diseña pensando en quién consumirá los datos después.</a:t>
            </a:r>
            <a:endParaRPr lang="en-US" sz="2000" dirty="0"/>
          </a:p>
        </p:txBody>
      </p:sp>
      <p:sp>
        <p:nvSpPr>
          <p:cNvPr id="8" name="Text 6"/>
          <p:cNvSpPr/>
          <p:nvPr/>
        </p:nvSpPr>
        <p:spPr>
          <a:xfrm>
            <a:off x="502920" y="5029200"/>
            <a:ext cx="10972800" cy="731520"/>
          </a:xfrm>
          <a:prstGeom prst="rect">
            <a:avLst/>
          </a:prstGeom>
          <a:noFill/>
          <a:ln/>
        </p:spPr>
        <p:txBody>
          <a:bodyPr wrap="square" rtlCol="0" anchor="ctr"/>
          <a:lstStyle/>
          <a:p>
            <a:pPr indent="0" marL="0">
              <a:buNone/>
            </a:pPr>
            <a:r>
              <a:rPr lang="en-US" sz="2800" b="1" dirty="0">
                <a:solidFill>
                  <a:srgbClr val="55DCD4"/>
                </a:solidFill>
                <a:latin typeface="Segoe UI" pitchFamily="34" charset="0"/>
                <a:ea typeface="Segoe UI" pitchFamily="34" charset="-122"/>
                <a:cs typeface="Segoe UI" pitchFamily="34" charset="-120"/>
              </a:rPr>
              <a:t>¿Preguntas?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NOCTILUZ · Defensa Tarea 1</dc:title>
  <dc:subject>PptxGenJS Presentation</dc:subject>
  <dc:creator>PptxGenJS</dc:creator>
  <cp:lastModifiedBy>PptxGenJS</cp:lastModifiedBy>
  <cp:revision>1</cp:revision>
  <dcterms:created xsi:type="dcterms:W3CDTF">2026-10-05T16:32:59Z</dcterms:created>
  <dcterms:modified xsi:type="dcterms:W3CDTF">2026-10-05T16:32:59Z</dcterms:modified>
</cp:coreProperties>
</file>