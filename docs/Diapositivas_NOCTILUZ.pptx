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6BB7186A-BD10-286F-5118-7CB77DF6964A}">
          <p14:sldIdLst>
            <p14:sldId id="256"/>
          </p14:sldIdLst>
        </p14:section>
        <p14:section name="1. Caso, objetivo y reparto" id="{FD535D39-4332-F133-5053-EEE04BF9D008}">
          <p14:sldIdLst>
            <p14:sldId id="257"/>
          </p14:sldIdLst>
        </p14:section>
        <p14:section name="2. Arquitectura y flujo" id="{D20D8899-3D8C-4DAE-30A8-1F74133811AD}">
          <p14:sldIdLst>
            <p14:sldId id="258"/>
          </p14:sldIdLst>
        </p14:section>
        <p14:section name="5. Limitaciones, decisiones e IA" id="{7D6D87C5-01BC-9377-14CB-FFEF6D5A70FC}">
          <p14:sldIdLst>
            <p14:sldId id="259"/>
          </p14:sldIdLst>
        </p14:section>
        <p14:section name="6. Conclusión" id="{3919FD8B-66B7-997F-B037-FAB4515D0841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68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736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 (≈10 s): "Buenos días. Somos Luis, Roberto, Javier y JunJie, y os presentamos NOCTILUZ: la tienda online de una marca de ropa que se ilumina. Está publicada en noctiluz.onl."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 (≈35 s). Qué vende NOCTILUZ: ropa con luz; cada prenda se elige por tipo, color de luz y modo (fijo, parpadeo o degradado). Objetivo: no solo una web bonita, sino un canal de venta completo en el que cada paso deja un evento para la Tarea 2. Leer el reparto y pasar a Roberto. Texto completo en Guion_defensa.md.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ROBERTO (≈55 s). El texto para la clase está en Guion_defensa.md, y debajo hay una explicación para entender esta diapositiva (no es para leerla en clase).
Resumen: cuatro capas de izquierda a derecha. La interfaz (lo que se ve en el navegador) pide cosas a la API; la API pasa la petición a la lógica de negocio, que es donde se calculan precios, IVA, envío y stock; y la base de datos lo guarda todo. Regla clave: el navegador solo pide, el servidor decide. Abajo, el recorrido de una compra: cada paso deja un evento. Los azules los guarda el servidor a la vez que el dato, así que nunca hay un pedido sin su evento. "Y ahora os lo enseñamos en la web."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 (≈45 s). Limitaciones: decirlas con seguridad, son conscientes. Decisiones: PHP y MySQL porque es lo que da un hosting normal; desarrollo propio en vez de WooCommerce para controlar los datos y los eventos; y el evento se guarda en la misma transacción que el pedido. IA: ser honestos, la usamos como ayuda, pero cometió errores que solo vimos probando, así que nada se dio por bueno sin probar el flujo entero.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 (≈15 s). Repetir las tres ideas y la frase de aprendizaje. "Gracias, ¿alguna pregunta?"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1325880"/>
            <a:ext cx="51206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2514600"/>
            <a:ext cx="4480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1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99713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pic>
        <p:nvPicPr>
          <p:cNvPr id="3" name="Image 0" descr="C:\Users\FX517\AppData\Local\Temp\claude\C--Users-FX517-Documents-Smash\2079b400-4ed9-47a4-b7ee-87d689724b5f\scratchpad\deck\img\logo-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967" y="347472"/>
            <a:ext cx="566928" cy="5669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: ojo de luz azul" descr="C:\Users\FX517\AppData\Local\Temp\claude\C--Users-FX517-Documents-Smash\2079b400-4ed9-47a4-b7ee-87d689724b5f\scratchpad\deck\img\portada-oj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535" y="885825"/>
            <a:ext cx="8138160" cy="5086350"/>
          </a:xfrm>
          <a:prstGeom prst="rect">
            <a:avLst/>
          </a:prstGeom>
        </p:spPr>
      </p:pic>
      <p:pic>
        <p:nvPicPr>
          <p:cNvPr id="3" name="Logo de NOCTILUZ en la pupila" descr="C:\Users\FX517\AppData\Local\Temp\claude\C--Users-FX517-Documents-Smash\2079b400-4ed9-47a4-b7ee-87d689724b5f\scratchpad\deck\img\logo-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943" y="2692222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132588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dirty="0">
                <a:solidFill>
                  <a:schemeClr val="bg1"/>
                </a:solidFill>
              </a:rPr>
              <a:t>NOCTILUZ</a:t>
            </a:r>
            <a:endParaRPr lang="en-US" sz="6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25146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chemeClr val="bg2"/>
                </a:solidFill>
              </a:rPr>
              <a:t>Canal de venta online de moda luminosa</a:t>
            </a:r>
            <a:endParaRPr lang="en-US" sz="2100" dirty="0"/>
          </a:p>
        </p:txBody>
      </p:sp>
      <p:sp>
        <p:nvSpPr>
          <p:cNvPr id="6" name="Asignatura"/>
          <p:cNvSpPr txBox="1"/>
          <p:nvPr/>
        </p:nvSpPr>
        <p:spPr>
          <a:xfrm>
            <a:off x="777240" y="3566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Tarea 1 · Soluciones Informáticas para la Empresa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Ingeniería Informática · UCAM · 2026-2027</a:t>
            </a:r>
            <a:endParaRPr lang="en-US" sz="1400" dirty="0"/>
          </a:p>
        </p:txBody>
      </p:sp>
      <p:sp>
        <p:nvSpPr>
          <p:cNvPr id="7" name="Integrantes"/>
          <p:cNvSpPr txBox="1"/>
          <p:nvPr/>
        </p:nvSpPr>
        <p:spPr>
          <a:xfrm>
            <a:off x="777240" y="44348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Luis Galindo Buendia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Roberto Ciller Miñana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Javier Zamora Lopez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JunJie Yang Jao</a:t>
            </a:r>
            <a:endParaRPr lang="en-US" sz="1500" dirty="0"/>
          </a:p>
        </p:txBody>
      </p:sp>
      <p:sp>
        <p:nvSpPr>
          <p:cNvPr id="8" name="URL"/>
          <p:cNvSpPr txBox="1"/>
          <p:nvPr/>
        </p:nvSpPr>
        <p:spPr>
          <a:xfrm>
            <a:off x="77724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noctiluz.onl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997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accent1"/>
                </a:solidFill>
              </a:rPr>
              <a:t>1. </a:t>
            </a:r>
            <a:r>
              <a:rPr lang="en-US" sz="2800" dirty="0">
                <a:solidFill>
                  <a:schemeClr val="bg1"/>
                </a:solidFill>
              </a:rPr>
              <a:t>Caso de empresa, objetivo de la solución y reparto de responsabilidades</a:t>
            </a:r>
            <a:endParaRPr lang="en-US" sz="2800" dirty="0"/>
          </a:p>
        </p:txBody>
      </p:sp>
      <p:sp>
        <p:nvSpPr>
          <p:cNvPr id="3" name="Etiqueta caso"/>
          <p:cNvSpPr txBox="1"/>
          <p:nvPr/>
        </p:nvSpPr>
        <p:spPr>
          <a:xfrm>
            <a:off x="685800" y="160020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chemeClr val="accent1"/>
                </a:solidFill>
              </a:rPr>
              <a:t>CASO DE EMPRESA</a:t>
            </a:r>
            <a:endParaRPr lang="en-US" sz="1250" dirty="0"/>
          </a:p>
        </p:txBody>
      </p:sp>
      <p:sp>
        <p:nvSpPr>
          <p:cNvPr id="4" name="Texto caso"/>
          <p:cNvSpPr txBox="1"/>
          <p:nvPr/>
        </p:nvSpPr>
        <p:spPr>
          <a:xfrm>
            <a:off x="685800" y="1929384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Marca ficticia de ropa urbana que se ilumina con LED.</a:t>
            </a:r>
            <a:endParaRPr lang="en-US" sz="1700" dirty="0"/>
          </a:p>
        </p:txBody>
      </p:sp>
      <p:sp>
        <p:nvSpPr>
          <p:cNvPr id="5" name="Cifra productos"/>
          <p:cNvSpPr txBox="1"/>
          <p:nvPr/>
        </p:nvSpPr>
        <p:spPr>
          <a:xfrm>
            <a:off x="68580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16</a:t>
            </a:r>
            <a:endParaRPr lang="en-US" sz="2800" dirty="0"/>
          </a:p>
        </p:txBody>
      </p:sp>
      <p:sp>
        <p:nvSpPr>
          <p:cNvPr id="6" name="Etiqueta cifra productos"/>
          <p:cNvSpPr txBox="1"/>
          <p:nvPr/>
        </p:nvSpPr>
        <p:spPr>
          <a:xfrm>
            <a:off x="685800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productos</a:t>
            </a:r>
            <a:endParaRPr lang="en-US" sz="1200" dirty="0"/>
          </a:p>
        </p:txBody>
      </p:sp>
      <p:sp>
        <p:nvSpPr>
          <p:cNvPr id="7" name="Cifra tipos de prenda"/>
          <p:cNvSpPr txBox="1"/>
          <p:nvPr/>
        </p:nvSpPr>
        <p:spPr>
          <a:xfrm>
            <a:off x="2258568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</a:t>
            </a:r>
            <a:endParaRPr lang="en-US" sz="2800" dirty="0"/>
          </a:p>
        </p:txBody>
      </p:sp>
      <p:sp>
        <p:nvSpPr>
          <p:cNvPr id="8" name="Etiqueta cifra tipos de prenda"/>
          <p:cNvSpPr txBox="1"/>
          <p:nvPr/>
        </p:nvSpPr>
        <p:spPr>
          <a:xfrm>
            <a:off x="2258568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tipos de prenda</a:t>
            </a:r>
            <a:endParaRPr lang="en-US" sz="1200" dirty="0"/>
          </a:p>
        </p:txBody>
      </p:sp>
      <p:sp>
        <p:nvSpPr>
          <p:cNvPr id="9" name="Cifra colores de luz"/>
          <p:cNvSpPr txBox="1"/>
          <p:nvPr/>
        </p:nvSpPr>
        <p:spPr>
          <a:xfrm>
            <a:off x="3831336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</a:t>
            </a:r>
            <a:endParaRPr lang="en-US" sz="2800" dirty="0"/>
          </a:p>
        </p:txBody>
      </p:sp>
      <p:sp>
        <p:nvSpPr>
          <p:cNvPr id="10" name="Etiqueta cifra colores de luz"/>
          <p:cNvSpPr txBox="1"/>
          <p:nvPr/>
        </p:nvSpPr>
        <p:spPr>
          <a:xfrm>
            <a:off x="3831336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colores de luz</a:t>
            </a:r>
            <a:endParaRPr lang="en-US" sz="1200" dirty="0"/>
          </a:p>
        </p:txBody>
      </p:sp>
      <p:sp>
        <p:nvSpPr>
          <p:cNvPr id="11" name="Cifra modos de luz"/>
          <p:cNvSpPr txBox="1"/>
          <p:nvPr/>
        </p:nvSpPr>
        <p:spPr>
          <a:xfrm>
            <a:off x="5404104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12" name="Etiqueta cifra modos de luz"/>
          <p:cNvSpPr txBox="1"/>
          <p:nvPr/>
        </p:nvSpPr>
        <p:spPr>
          <a:xfrm>
            <a:off x="5404104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modos de luz</a:t>
            </a:r>
            <a:endParaRPr lang="en-US" sz="1200" dirty="0"/>
          </a:p>
        </p:txBody>
      </p:sp>
      <p:sp>
        <p:nvSpPr>
          <p:cNvPr id="13" name="Etiqueta objetivo"/>
          <p:cNvSpPr txBox="1"/>
          <p:nvPr/>
        </p:nvSpPr>
        <p:spPr>
          <a:xfrm>
            <a:off x="685800" y="338328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chemeClr val="accent1"/>
                </a:solidFill>
              </a:rPr>
              <a:t>OBJETIVO</a:t>
            </a:r>
            <a:endParaRPr lang="en-US" sz="1250" dirty="0"/>
          </a:p>
        </p:txBody>
      </p:sp>
      <p:sp>
        <p:nvSpPr>
          <p:cNvPr id="14" name="Texto objetivo"/>
          <p:cNvSpPr txBox="1"/>
          <p:nvPr/>
        </p:nvSpPr>
        <p:spPr>
          <a:xfrm>
            <a:off x="685800" y="3712464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Vender online de principio a fin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y que cada paso del cliente quede registrado como evento.</a:t>
            </a:r>
            <a:endParaRPr lang="en-US" sz="1700" dirty="0"/>
          </a:p>
        </p:txBody>
      </p:sp>
      <p:sp>
        <p:nvSpPr>
          <p:cNvPr id="15" name="Etiqueta reparto"/>
          <p:cNvSpPr txBox="1"/>
          <p:nvPr/>
        </p:nvSpPr>
        <p:spPr>
          <a:xfrm>
            <a:off x="685800" y="461772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chemeClr val="accent1"/>
                </a:solidFill>
              </a:rPr>
              <a:t>REPARTO</a:t>
            </a:r>
            <a:endParaRPr lang="en-US" sz="1250" dirty="0"/>
          </a:p>
        </p:txBody>
      </p:sp>
      <p:sp>
        <p:nvSpPr>
          <p:cNvPr id="16" name="Reparto: Luis Galindo"/>
          <p:cNvSpPr txBox="1"/>
          <p:nvPr/>
        </p:nvSpPr>
        <p:spPr>
          <a:xfrm>
            <a:off x="685800" y="49651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Luis Galindo</a:t>
            </a:r>
            <a:endParaRPr lang="en-US" sz="1400" dirty="0"/>
          </a:p>
        </p:txBody>
      </p:sp>
      <p:sp>
        <p:nvSpPr>
          <p:cNvPr id="17" name="Reparto: tarea de Luis Galindo"/>
          <p:cNvSpPr txBox="1"/>
          <p:nvPr/>
        </p:nvSpPr>
        <p:spPr>
          <a:xfrm>
            <a:off x="2834640" y="49651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Despliegue, memoria y diapositivas</a:t>
            </a:r>
            <a:endParaRPr lang="en-US" sz="1400" dirty="0"/>
          </a:p>
        </p:txBody>
      </p:sp>
      <p:sp>
        <p:nvSpPr>
          <p:cNvPr id="18" name="Separador reparto 1"/>
          <p:cNvSpPr/>
          <p:nvPr/>
        </p:nvSpPr>
        <p:spPr>
          <a:xfrm>
            <a:off x="685800" y="5294376"/>
            <a:ext cx="635508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Reparto: Roberto Ciller"/>
          <p:cNvSpPr txBox="1"/>
          <p:nvPr/>
        </p:nvSpPr>
        <p:spPr>
          <a:xfrm>
            <a:off x="685800" y="53126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Roberto Ciller</a:t>
            </a:r>
            <a:endParaRPr lang="en-US" sz="1400" dirty="0"/>
          </a:p>
        </p:txBody>
      </p:sp>
      <p:sp>
        <p:nvSpPr>
          <p:cNvPr id="20" name="Reparto: tarea de Roberto Ciller"/>
          <p:cNvSpPr txBox="1"/>
          <p:nvPr/>
        </p:nvSpPr>
        <p:spPr>
          <a:xfrm>
            <a:off x="2834640" y="531266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HTML inicial y fotos</a:t>
            </a:r>
            <a:endParaRPr lang="en-US" sz="1400" dirty="0"/>
          </a:p>
        </p:txBody>
      </p:sp>
      <p:sp>
        <p:nvSpPr>
          <p:cNvPr id="21" name="Separador reparto 2"/>
          <p:cNvSpPr/>
          <p:nvPr/>
        </p:nvSpPr>
        <p:spPr>
          <a:xfrm>
            <a:off x="685800" y="5641848"/>
            <a:ext cx="635508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Reparto: Javier Zamora"/>
          <p:cNvSpPr txBox="1"/>
          <p:nvPr/>
        </p:nvSpPr>
        <p:spPr>
          <a:xfrm>
            <a:off x="685800" y="56601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Javier Zamora</a:t>
            </a:r>
            <a:endParaRPr lang="en-US" sz="1400" dirty="0"/>
          </a:p>
        </p:txBody>
      </p:sp>
      <p:sp>
        <p:nvSpPr>
          <p:cNvPr id="23" name="Reparto: tarea de Javier Zamora"/>
          <p:cNvSpPr txBox="1"/>
          <p:nvPr/>
        </p:nvSpPr>
        <p:spPr>
          <a:xfrm>
            <a:off x="2834640" y="56601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Catálogo y pruebas automáticas</a:t>
            </a:r>
            <a:endParaRPr lang="en-US" sz="1400" dirty="0"/>
          </a:p>
        </p:txBody>
      </p:sp>
      <p:sp>
        <p:nvSpPr>
          <p:cNvPr id="24" name="Separador reparto 3"/>
          <p:cNvSpPr/>
          <p:nvPr/>
        </p:nvSpPr>
        <p:spPr>
          <a:xfrm>
            <a:off x="685800" y="5989320"/>
            <a:ext cx="635508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Reparto: JunJie Yang"/>
          <p:cNvSpPr txBox="1"/>
          <p:nvPr/>
        </p:nvSpPr>
        <p:spPr>
          <a:xfrm>
            <a:off x="685800" y="60076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JunJie Yang</a:t>
            </a:r>
            <a:endParaRPr lang="en-US" sz="1400" dirty="0"/>
          </a:p>
        </p:txBody>
      </p:sp>
      <p:sp>
        <p:nvSpPr>
          <p:cNvPr id="26" name="Reparto: tarea de JunJie Yang"/>
          <p:cNvSpPr txBox="1"/>
          <p:nvPr/>
        </p:nvSpPr>
        <p:spPr>
          <a:xfrm>
            <a:off x="2834640" y="60076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Back-office y diseño</a:t>
            </a:r>
            <a:endParaRPr lang="en-US" sz="1400" dirty="0"/>
          </a:p>
        </p:txBody>
      </p:sp>
      <p:sp>
        <p:nvSpPr>
          <p:cNvPr id="27" name="Separador reparto 4"/>
          <p:cNvSpPr/>
          <p:nvPr/>
        </p:nvSpPr>
        <p:spPr>
          <a:xfrm>
            <a:off x="685800" y="6336792"/>
            <a:ext cx="635508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8" name="Foto Pentagrama · rosa" descr="C:\Users\FX517\AppData\Local\Temp\claude\C--Users-FX517-Documents-Smash\2079b400-4ed9-47a4-b7ee-87d689724b5f\scratchpad\deck\img\p-camiset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00200"/>
            <a:ext cx="1828800" cy="2286000"/>
          </a:xfrm>
          <a:prstGeom prst="rect">
            <a:avLst/>
          </a:prstGeom>
        </p:spPr>
      </p:pic>
      <p:sp>
        <p:nvSpPr>
          <p:cNvPr id="29" name="Fondo del pie Pentagrama · rosa"/>
          <p:cNvSpPr/>
          <p:nvPr/>
        </p:nvSpPr>
        <p:spPr>
          <a:xfrm>
            <a:off x="7711135" y="3538728"/>
            <a:ext cx="1828800" cy="347472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Pie Pentagrama · rosa"/>
          <p:cNvSpPr txBox="1"/>
          <p:nvPr/>
        </p:nvSpPr>
        <p:spPr>
          <a:xfrm>
            <a:off x="7820863" y="35387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Pentagrama · rosa</a:t>
            </a:r>
            <a:endParaRPr lang="en-US" sz="1100" dirty="0"/>
          </a:p>
        </p:txBody>
      </p:sp>
      <p:pic>
        <p:nvPicPr>
          <p:cNvPr id="31" name="Foto Nervadura · ámbar" descr="C:\Users\FX517\AppData\Local\Temp\claude\C--Users-FX517-Documents-Smash\2079b400-4ed9-47a4-b7ee-87d689724b5f\scratchpad\deck\img\p-chaquet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095" y="1600200"/>
            <a:ext cx="1828800" cy="2286000"/>
          </a:xfrm>
          <a:prstGeom prst="rect">
            <a:avLst/>
          </a:prstGeom>
        </p:spPr>
      </p:pic>
      <p:sp>
        <p:nvSpPr>
          <p:cNvPr id="32" name="Fondo del pie Nervadura · ámbar"/>
          <p:cNvSpPr/>
          <p:nvPr/>
        </p:nvSpPr>
        <p:spPr>
          <a:xfrm>
            <a:off x="9677095" y="3538728"/>
            <a:ext cx="1828800" cy="347472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Pie Nervadura · ámbar"/>
          <p:cNvSpPr txBox="1"/>
          <p:nvPr/>
        </p:nvSpPr>
        <p:spPr>
          <a:xfrm>
            <a:off x="9786823" y="35387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Nervadura · ámbar</a:t>
            </a:r>
            <a:endParaRPr lang="en-US" sz="1100" dirty="0"/>
          </a:p>
        </p:txBody>
      </p:sp>
      <p:pic>
        <p:nvPicPr>
          <p:cNvPr id="34" name="Foto Marco · cian" descr="C:\Users\FX517\AppData\Local\Temp\claude\C--Users-FX517-Documents-Smash\2079b400-4ed9-47a4-b7ee-87d689724b5f\scratchpad\deck\img\p-mochil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135" y="4023360"/>
            <a:ext cx="1828800" cy="2286000"/>
          </a:xfrm>
          <a:prstGeom prst="rect">
            <a:avLst/>
          </a:prstGeom>
        </p:spPr>
      </p:pic>
      <p:sp>
        <p:nvSpPr>
          <p:cNvPr id="35" name="Fondo del pie Marco · cian"/>
          <p:cNvSpPr/>
          <p:nvPr/>
        </p:nvSpPr>
        <p:spPr>
          <a:xfrm>
            <a:off x="7711135" y="5961888"/>
            <a:ext cx="1828800" cy="347472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Pie Marco · cian"/>
          <p:cNvSpPr txBox="1"/>
          <p:nvPr/>
        </p:nvSpPr>
        <p:spPr>
          <a:xfrm>
            <a:off x="7820863" y="59618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Marco · cian</a:t>
            </a:r>
            <a:endParaRPr lang="en-US" sz="1100" dirty="0"/>
          </a:p>
        </p:txBody>
      </p:sp>
      <p:pic>
        <p:nvPicPr>
          <p:cNvPr id="37" name="Foto Celosía · violeta" descr="C:\Users\FX517\AppData\Local\Temp\claude\C--Users-FX517-Documents-Smash\2079b400-4ed9-47a4-b7ee-87d689724b5f\scratchpad\deck\img\p-gorr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7095" y="4023360"/>
            <a:ext cx="1828800" cy="2286000"/>
          </a:xfrm>
          <a:prstGeom prst="rect">
            <a:avLst/>
          </a:prstGeom>
        </p:spPr>
      </p:pic>
      <p:sp>
        <p:nvSpPr>
          <p:cNvPr id="38" name="Fondo del pie Celosía · violeta"/>
          <p:cNvSpPr/>
          <p:nvPr/>
        </p:nvSpPr>
        <p:spPr>
          <a:xfrm>
            <a:off x="9677095" y="5961888"/>
            <a:ext cx="1828800" cy="347472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Pie Celosía · violeta"/>
          <p:cNvSpPr txBox="1"/>
          <p:nvPr/>
        </p:nvSpPr>
        <p:spPr>
          <a:xfrm>
            <a:off x="9786823" y="59618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Celosía · violeta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997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accent1"/>
                </a:solidFill>
              </a:rPr>
              <a:t>2. </a:t>
            </a:r>
            <a:r>
              <a:rPr lang="en-US" sz="2800" dirty="0">
                <a:solidFill>
                  <a:schemeClr val="bg1"/>
                </a:solidFill>
              </a:rPr>
              <a:t>Arquitectura general y flujo funcional</a:t>
            </a:r>
            <a:endParaRPr lang="en-US" sz="2800" dirty="0"/>
          </a:p>
        </p:txBody>
      </p:sp>
      <p:sp>
        <p:nvSpPr>
          <p:cNvPr id="3" name="Etiqueta arquitectura"/>
          <p:cNvSpPr txBox="1"/>
          <p:nvPr/>
        </p:nvSpPr>
        <p:spPr>
          <a:xfrm>
            <a:off x="68580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chemeClr val="accent1"/>
                </a:solidFill>
              </a:rPr>
              <a:t>ARQUITECTURA: CUATRO CAPAS</a:t>
            </a:r>
            <a:endParaRPr lang="en-US" sz="1250" dirty="0"/>
          </a:p>
        </p:txBody>
      </p:sp>
      <p:sp>
        <p:nvSpPr>
          <p:cNvPr id="4" name="Capa Interfaz"/>
          <p:cNvSpPr/>
          <p:nvPr/>
        </p:nvSpPr>
        <p:spPr>
          <a:xfrm>
            <a:off x="685800" y="1984248"/>
            <a:ext cx="2331720" cy="1143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Interfaz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Tienda y back-office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· CSS · JavaScript</a:t>
            </a:r>
            <a:endParaRPr lang="en-US" sz="1700" dirty="0"/>
          </a:p>
        </p:txBody>
      </p:sp>
      <p:sp>
        <p:nvSpPr>
          <p:cNvPr id="5" name="Flecha Interfaz"/>
          <p:cNvSpPr/>
          <p:nvPr/>
        </p:nvSpPr>
        <p:spPr>
          <a:xfrm>
            <a:off x="3081528" y="2555748"/>
            <a:ext cx="369722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6" name="Capa API"/>
          <p:cNvSpPr/>
          <p:nvPr/>
        </p:nvSpPr>
        <p:spPr>
          <a:xfrm>
            <a:off x="3515258" y="1984248"/>
            <a:ext cx="2331720" cy="1143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API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Recibe y devuelve JSON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api/*.php</a:t>
            </a:r>
            <a:endParaRPr lang="en-US" sz="1700" dirty="0"/>
          </a:p>
        </p:txBody>
      </p:sp>
      <p:sp>
        <p:nvSpPr>
          <p:cNvPr id="7" name="Flecha API"/>
          <p:cNvSpPr/>
          <p:nvPr/>
        </p:nvSpPr>
        <p:spPr>
          <a:xfrm>
            <a:off x="5910986" y="2555748"/>
            <a:ext cx="369722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8" name="Capa Lógica de negocio"/>
          <p:cNvSpPr/>
          <p:nvPr/>
        </p:nvSpPr>
        <p:spPr>
          <a:xfrm>
            <a:off x="6344717" y="1984248"/>
            <a:ext cx="2331720" cy="1143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Lógica de negocio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Precios, IVA, stock, eventos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app/*.php</a:t>
            </a:r>
            <a:endParaRPr lang="en-US" sz="1700" dirty="0"/>
          </a:p>
        </p:txBody>
      </p:sp>
      <p:sp>
        <p:nvSpPr>
          <p:cNvPr id="9" name="Flecha Lógica de negocio"/>
          <p:cNvSpPr/>
          <p:nvPr/>
        </p:nvSpPr>
        <p:spPr>
          <a:xfrm>
            <a:off x="8740445" y="2555748"/>
            <a:ext cx="369722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Capa Base de datos"/>
          <p:cNvSpPr/>
          <p:nvPr/>
        </p:nvSpPr>
        <p:spPr>
          <a:xfrm>
            <a:off x="9174175" y="1984248"/>
            <a:ext cx="2331720" cy="1143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Base de datos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16 tablas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MariaDB</a:t>
            </a:r>
            <a:endParaRPr lang="en-US" sz="1700" dirty="0"/>
          </a:p>
        </p:txBody>
      </p:sp>
      <p:sp>
        <p:nvSpPr>
          <p:cNvPr id="11" name="Llave navegador"/>
          <p:cNvSpPr/>
          <p:nvPr/>
        </p:nvSpPr>
        <p:spPr>
          <a:xfrm>
            <a:off x="685800" y="3282696"/>
            <a:ext cx="233172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Llave navegador izq."/>
          <p:cNvSpPr/>
          <p:nvPr/>
        </p:nvSpPr>
        <p:spPr>
          <a:xfrm>
            <a:off x="685800" y="3209544"/>
            <a:ext cx="0" cy="73152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Llave navegador der."/>
          <p:cNvSpPr/>
          <p:nvPr/>
        </p:nvSpPr>
        <p:spPr>
          <a:xfrm>
            <a:off x="3017520" y="3209544"/>
            <a:ext cx="0" cy="73152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Llave servidor"/>
          <p:cNvSpPr/>
          <p:nvPr/>
        </p:nvSpPr>
        <p:spPr>
          <a:xfrm>
            <a:off x="3515258" y="3282696"/>
            <a:ext cx="799063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Llave servidor izq."/>
          <p:cNvSpPr/>
          <p:nvPr/>
        </p:nvSpPr>
        <p:spPr>
          <a:xfrm>
            <a:off x="3515258" y="3209544"/>
            <a:ext cx="0" cy="73152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Llave servidor der."/>
          <p:cNvSpPr/>
          <p:nvPr/>
        </p:nvSpPr>
        <p:spPr>
          <a:xfrm>
            <a:off x="11505895" y="3209544"/>
            <a:ext cx="0" cy="73152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o navegador"/>
          <p:cNvSpPr txBox="1"/>
          <p:nvPr/>
        </p:nvSpPr>
        <p:spPr>
          <a:xfrm>
            <a:off x="685800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accent4"/>
                </a:solidFill>
              </a:rPr>
              <a:t>Navegador del cliente</a:t>
            </a:r>
            <a:endParaRPr lang="en-US" sz="1250" dirty="0"/>
          </a:p>
        </p:txBody>
      </p:sp>
      <p:sp>
        <p:nvSpPr>
          <p:cNvPr id="18" name="Texto servidor"/>
          <p:cNvSpPr txBox="1"/>
          <p:nvPr/>
        </p:nvSpPr>
        <p:spPr>
          <a:xfrm>
            <a:off x="3515258" y="3337560"/>
            <a:ext cx="7990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accent4"/>
                </a:solidFill>
              </a:rPr>
              <a:t>Servidor de DonDominio</a:t>
            </a:r>
            <a:endParaRPr lang="en-US" sz="1250" dirty="0"/>
          </a:p>
        </p:txBody>
      </p:sp>
      <p:sp>
        <p:nvSpPr>
          <p:cNvPr id="19" name="Regla clave"/>
          <p:cNvSpPr txBox="1"/>
          <p:nvPr/>
        </p:nvSpPr>
        <p:spPr>
          <a:xfrm>
            <a:off x="685800" y="383133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Regla clave: </a:t>
            </a:r>
            <a:r>
              <a:rPr lang="en-US" sz="1800" dirty="0">
                <a:solidFill>
                  <a:schemeClr val="bg1"/>
                </a:solidFill>
              </a:rPr>
              <a:t>el navegador solo pide; el servidor calcula y decide.</a:t>
            </a:r>
            <a:endParaRPr lang="en-US" sz="1800" dirty="0"/>
          </a:p>
        </p:txBody>
      </p:sp>
      <p:sp>
        <p:nvSpPr>
          <p:cNvPr id="20" name="Etiqueta flujo"/>
          <p:cNvSpPr txBox="1"/>
          <p:nvPr/>
        </p:nvSpPr>
        <p:spPr>
          <a:xfrm>
            <a:off x="685800" y="45171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chemeClr val="accent1"/>
                </a:solidFill>
              </a:rPr>
              <a:t>FLUJO DE COMPRA Y EVENTOS</a:t>
            </a:r>
            <a:endParaRPr lang="en-US" sz="1250" dirty="0"/>
          </a:p>
        </p:txBody>
      </p:sp>
      <p:sp>
        <p:nvSpPr>
          <p:cNvPr id="21" name="Paso Catálogo"/>
          <p:cNvSpPr/>
          <p:nvPr/>
        </p:nvSpPr>
        <p:spPr>
          <a:xfrm>
            <a:off x="685800" y="4882896"/>
            <a:ext cx="1600200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Catálogo</a:t>
            </a:r>
            <a:endParaRPr lang="en-US" sz="1400" dirty="0"/>
          </a:p>
        </p:txBody>
      </p:sp>
      <p:sp>
        <p:nvSpPr>
          <p:cNvPr id="22" name="Evento product.viewed"/>
          <p:cNvSpPr txBox="1"/>
          <p:nvPr/>
        </p:nvSpPr>
        <p:spPr>
          <a:xfrm>
            <a:off x="576072" y="549554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product.viewed</a:t>
            </a:r>
            <a:endParaRPr lang="en-US" sz="1100" dirty="0"/>
          </a:p>
        </p:txBody>
      </p:sp>
      <p:sp>
        <p:nvSpPr>
          <p:cNvPr id="23" name="Flecha paso Catálogo"/>
          <p:cNvSpPr/>
          <p:nvPr/>
        </p:nvSpPr>
        <p:spPr>
          <a:xfrm>
            <a:off x="2313432" y="5157216"/>
            <a:ext cx="188915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Paso Carrito"/>
          <p:cNvSpPr/>
          <p:nvPr/>
        </p:nvSpPr>
        <p:spPr>
          <a:xfrm>
            <a:off x="2529779" y="4882896"/>
            <a:ext cx="1600200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Carrito</a:t>
            </a:r>
            <a:endParaRPr lang="en-US" sz="1400" dirty="0"/>
          </a:p>
        </p:txBody>
      </p:sp>
      <p:sp>
        <p:nvSpPr>
          <p:cNvPr id="25" name="Evento cart.item_added"/>
          <p:cNvSpPr txBox="1"/>
          <p:nvPr/>
        </p:nvSpPr>
        <p:spPr>
          <a:xfrm>
            <a:off x="2420051" y="549554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cart.item_added</a:t>
            </a:r>
            <a:endParaRPr lang="en-US" sz="1100" dirty="0"/>
          </a:p>
        </p:txBody>
      </p:sp>
      <p:sp>
        <p:nvSpPr>
          <p:cNvPr id="26" name="Flecha paso Carrito"/>
          <p:cNvSpPr/>
          <p:nvPr/>
        </p:nvSpPr>
        <p:spPr>
          <a:xfrm>
            <a:off x="4157411" y="5157216"/>
            <a:ext cx="188915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7" name="Paso Checkout"/>
          <p:cNvSpPr/>
          <p:nvPr/>
        </p:nvSpPr>
        <p:spPr>
          <a:xfrm>
            <a:off x="4373758" y="4882896"/>
            <a:ext cx="1600200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Checkout</a:t>
            </a:r>
            <a:endParaRPr lang="en-US" sz="1400" dirty="0"/>
          </a:p>
        </p:txBody>
      </p:sp>
      <p:sp>
        <p:nvSpPr>
          <p:cNvPr id="28" name="Evento checkout.started"/>
          <p:cNvSpPr txBox="1"/>
          <p:nvPr/>
        </p:nvSpPr>
        <p:spPr>
          <a:xfrm>
            <a:off x="4264030" y="549554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checkout.started</a:t>
            </a:r>
            <a:endParaRPr lang="en-US" sz="1100" dirty="0"/>
          </a:p>
        </p:txBody>
      </p:sp>
      <p:sp>
        <p:nvSpPr>
          <p:cNvPr id="29" name="Flecha paso Checkout"/>
          <p:cNvSpPr/>
          <p:nvPr/>
        </p:nvSpPr>
        <p:spPr>
          <a:xfrm>
            <a:off x="6001390" y="5157216"/>
            <a:ext cx="188915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0" name="Paso Pedido"/>
          <p:cNvSpPr/>
          <p:nvPr/>
        </p:nvSpPr>
        <p:spPr>
          <a:xfrm>
            <a:off x="6217737" y="4882896"/>
            <a:ext cx="1600200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Pedido</a:t>
            </a:r>
            <a:endParaRPr lang="en-US" sz="1400" dirty="0"/>
          </a:p>
        </p:txBody>
      </p:sp>
      <p:sp>
        <p:nvSpPr>
          <p:cNvPr id="31" name="Evento order.created"/>
          <p:cNvSpPr txBox="1"/>
          <p:nvPr/>
        </p:nvSpPr>
        <p:spPr>
          <a:xfrm>
            <a:off x="6108009" y="549554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order.created</a:t>
            </a:r>
            <a:endParaRPr lang="en-US" sz="1100" dirty="0"/>
          </a:p>
        </p:txBody>
      </p:sp>
      <p:sp>
        <p:nvSpPr>
          <p:cNvPr id="32" name="Flecha paso Pedido"/>
          <p:cNvSpPr/>
          <p:nvPr/>
        </p:nvSpPr>
        <p:spPr>
          <a:xfrm>
            <a:off x="7845369" y="5157216"/>
            <a:ext cx="188915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3" name="Paso Pago simulado"/>
          <p:cNvSpPr/>
          <p:nvPr/>
        </p:nvSpPr>
        <p:spPr>
          <a:xfrm>
            <a:off x="8061716" y="4882896"/>
            <a:ext cx="1600200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Pago simulado</a:t>
            </a:r>
            <a:endParaRPr lang="en-US" sz="1400" dirty="0"/>
          </a:p>
        </p:txBody>
      </p:sp>
      <p:sp>
        <p:nvSpPr>
          <p:cNvPr id="34" name="Evento payment.simulated"/>
          <p:cNvSpPr txBox="1"/>
          <p:nvPr/>
        </p:nvSpPr>
        <p:spPr>
          <a:xfrm>
            <a:off x="7951988" y="549554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payment.simulated</a:t>
            </a:r>
            <a:endParaRPr lang="en-US" sz="1100" dirty="0"/>
          </a:p>
        </p:txBody>
      </p:sp>
      <p:sp>
        <p:nvSpPr>
          <p:cNvPr id="35" name="Flecha paso Pago simulado"/>
          <p:cNvSpPr/>
          <p:nvPr/>
        </p:nvSpPr>
        <p:spPr>
          <a:xfrm>
            <a:off x="9689348" y="5157216"/>
            <a:ext cx="188915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6" name="Paso Back-office"/>
          <p:cNvSpPr/>
          <p:nvPr/>
        </p:nvSpPr>
        <p:spPr>
          <a:xfrm>
            <a:off x="9905695" y="4882896"/>
            <a:ext cx="1600200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Back-office</a:t>
            </a:r>
            <a:endParaRPr lang="en-US" sz="1400" dirty="0"/>
          </a:p>
        </p:txBody>
      </p:sp>
      <p:sp>
        <p:nvSpPr>
          <p:cNvPr id="37" name="Evento order.status_changed"/>
          <p:cNvSpPr txBox="1"/>
          <p:nvPr/>
        </p:nvSpPr>
        <p:spPr>
          <a:xfrm>
            <a:off x="9795967" y="549554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order.status_changed</a:t>
            </a:r>
            <a:endParaRPr lang="en-US" sz="1100" dirty="0"/>
          </a:p>
        </p:txBody>
      </p:sp>
      <p:sp>
        <p:nvSpPr>
          <p:cNvPr id="38" name="Leyenda de eventos"/>
          <p:cNvSpPr txBox="1"/>
          <p:nvPr/>
        </p:nvSpPr>
        <p:spPr>
          <a:xfrm>
            <a:off x="685800" y="58887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2"/>
                </a:solidFill>
              </a:rPr>
              <a:t>■ </a:t>
            </a:r>
            <a:r>
              <a:rPr lang="en-US" sz="1250" dirty="0">
                <a:solidFill>
                  <a:schemeClr val="accent4"/>
                </a:solidFill>
              </a:rPr>
              <a:t>lo registra el navegador        </a:t>
            </a:r>
            <a:r>
              <a:rPr lang="en-US" sz="1250" dirty="0">
                <a:solidFill>
                  <a:schemeClr val="accent1"/>
                </a:solidFill>
              </a:rPr>
              <a:t>■ </a:t>
            </a:r>
            <a:r>
              <a:rPr lang="en-US" sz="1250" dirty="0">
                <a:solidFill>
                  <a:schemeClr val="accent4"/>
                </a:solidFill>
              </a:rPr>
              <a:t>lo registra el servidor, junto con el dato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997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chemeClr val="accent1"/>
                </a:solidFill>
              </a:rPr>
              <a:t>3</a:t>
            </a:r>
            <a:r>
              <a:rPr lang="en-US" sz="2800" dirty="0">
                <a:solidFill>
                  <a:schemeClr val="accent1"/>
                </a:solidFill>
              </a:rPr>
              <a:t>. </a:t>
            </a:r>
            <a:r>
              <a:rPr lang="en-US" sz="2800" dirty="0">
                <a:solidFill>
                  <a:schemeClr val="bg1"/>
                </a:solidFill>
              </a:rPr>
              <a:t>Limitaciones, decisiones críticas y uso de IA</a:t>
            </a:r>
            <a:endParaRPr lang="en-US" sz="2800" dirty="0"/>
          </a:p>
        </p:txBody>
      </p:sp>
      <p:sp>
        <p:nvSpPr>
          <p:cNvPr id="3" name="Panel Limitaciones"/>
          <p:cNvSpPr/>
          <p:nvPr/>
        </p:nvSpPr>
        <p:spPr>
          <a:xfrm>
            <a:off x="685800" y="1600200"/>
            <a:ext cx="3423818" cy="4206240"/>
          </a:xfrm>
          <a:prstGeom prst="roundRect">
            <a:avLst>
              <a:gd name="adj" fmla="val 160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Marca Limitaciones"/>
          <p:cNvSpPr/>
          <p:nvPr/>
        </p:nvSpPr>
        <p:spPr>
          <a:xfrm>
            <a:off x="960120" y="2350008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ítulo Limitaciones"/>
          <p:cNvSpPr txBox="1"/>
          <p:nvPr/>
        </p:nvSpPr>
        <p:spPr>
          <a:xfrm>
            <a:off x="960120" y="1874520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Limitaciones</a:t>
            </a:r>
            <a:endParaRPr lang="en-US" sz="2000" dirty="0"/>
          </a:p>
        </p:txBody>
      </p:sp>
      <p:sp>
        <p:nvSpPr>
          <p:cNvPr id="6" name="Puntos Limitaciones"/>
          <p:cNvSpPr txBox="1"/>
          <p:nvPr/>
        </p:nvSpPr>
        <p:spPr>
          <a:xfrm>
            <a:off x="960120" y="2624328"/>
            <a:ext cx="292089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Pago simulado, sin pasarela real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Sin correos ni envíos reales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Cuentas sin verificar el email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Un único administrador, sin roles</a:t>
            </a:r>
            <a:endParaRPr lang="en-US" sz="1700" dirty="0"/>
          </a:p>
        </p:txBody>
      </p:sp>
      <p:sp>
        <p:nvSpPr>
          <p:cNvPr id="7" name="Panel Decisiones críticas"/>
          <p:cNvSpPr/>
          <p:nvPr/>
        </p:nvSpPr>
        <p:spPr>
          <a:xfrm>
            <a:off x="4383938" y="1600200"/>
            <a:ext cx="3423818" cy="4206240"/>
          </a:xfrm>
          <a:prstGeom prst="roundRect">
            <a:avLst>
              <a:gd name="adj" fmla="val 160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Marca Decisiones críticas"/>
          <p:cNvSpPr/>
          <p:nvPr/>
        </p:nvSpPr>
        <p:spPr>
          <a:xfrm>
            <a:off x="4658258" y="2350008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ítulo Decisiones críticas"/>
          <p:cNvSpPr txBox="1"/>
          <p:nvPr/>
        </p:nvSpPr>
        <p:spPr>
          <a:xfrm>
            <a:off x="4658258" y="1874520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 err="1">
                <a:solidFill>
                  <a:schemeClr val="bg1"/>
                </a:solidFill>
              </a:rPr>
              <a:t>Decisiones</a:t>
            </a:r>
            <a:endParaRPr lang="en-US" sz="2000" dirty="0"/>
          </a:p>
        </p:txBody>
      </p:sp>
      <p:sp>
        <p:nvSpPr>
          <p:cNvPr id="10" name="Puntos Decisiones críticas"/>
          <p:cNvSpPr txBox="1"/>
          <p:nvPr/>
        </p:nvSpPr>
        <p:spPr>
          <a:xfrm>
            <a:off x="4658258" y="2624328"/>
            <a:ext cx="292089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PHP + MySQL: lo que ofrece un hosting compartido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Desarrollo </a:t>
            </a:r>
            <a:r>
              <a:rPr lang="en-US" sz="1700" dirty="0" err="1">
                <a:solidFill>
                  <a:schemeClr val="bg2"/>
                </a:solidFill>
              </a:rPr>
              <a:t>propio</a:t>
            </a:r>
            <a:r>
              <a:rPr lang="en-US" sz="1700" dirty="0">
                <a:solidFill>
                  <a:schemeClr val="bg2"/>
                </a:solidFill>
              </a:rPr>
              <a:t>.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El servidor calcula precios y stock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Dato y evento en la misma transacción</a:t>
            </a:r>
            <a:endParaRPr lang="en-US" sz="1700" dirty="0"/>
          </a:p>
        </p:txBody>
      </p:sp>
      <p:sp>
        <p:nvSpPr>
          <p:cNvPr id="11" name="Panel Uso de IA"/>
          <p:cNvSpPr/>
          <p:nvPr/>
        </p:nvSpPr>
        <p:spPr>
          <a:xfrm>
            <a:off x="8082077" y="1600200"/>
            <a:ext cx="3423818" cy="4206240"/>
          </a:xfrm>
          <a:prstGeom prst="roundRect">
            <a:avLst>
              <a:gd name="adj" fmla="val 160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Marca Uso de IA"/>
          <p:cNvSpPr/>
          <p:nvPr/>
        </p:nvSpPr>
        <p:spPr>
          <a:xfrm>
            <a:off x="8356397" y="2350008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ítulo Uso de IA"/>
          <p:cNvSpPr txBox="1"/>
          <p:nvPr/>
        </p:nvSpPr>
        <p:spPr>
          <a:xfrm>
            <a:off x="8356397" y="1874520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Uso de IA</a:t>
            </a:r>
            <a:endParaRPr lang="en-US" sz="2000" dirty="0"/>
          </a:p>
        </p:txBody>
      </p:sp>
      <p:sp>
        <p:nvSpPr>
          <p:cNvPr id="14" name="Puntos Uso de IA"/>
          <p:cNvSpPr txBox="1"/>
          <p:nvPr/>
        </p:nvSpPr>
        <p:spPr>
          <a:xfrm>
            <a:off x="8356397" y="2624328"/>
            <a:ext cx="292089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HTML inicial generado con ChatGPT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Claude Code: código y datos de prueba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Todo revisado y probado por nosotros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Corregimos sus fallos probando el flujo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997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chemeClr val="accent1"/>
                </a:solidFill>
              </a:rPr>
              <a:t>4</a:t>
            </a:r>
            <a:r>
              <a:rPr lang="en-US" sz="2800">
                <a:solidFill>
                  <a:schemeClr val="accent1"/>
                </a:solidFill>
              </a:rPr>
              <a:t>. </a:t>
            </a:r>
            <a:r>
              <a:rPr lang="en-US" sz="2800" dirty="0">
                <a:solidFill>
                  <a:schemeClr val="bg1"/>
                </a:solidFill>
              </a:rPr>
              <a:t>Conclusión</a:t>
            </a:r>
            <a:endParaRPr lang="en-US" sz="2800" dirty="0"/>
          </a:p>
        </p:txBody>
      </p:sp>
      <p:sp>
        <p:nvSpPr>
          <p:cNvPr id="3" name="Número idea 1"/>
          <p:cNvSpPr txBox="1"/>
          <p:nvPr/>
        </p:nvSpPr>
        <p:spPr>
          <a:xfrm>
            <a:off x="685800" y="16916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01</a:t>
            </a:r>
            <a:endParaRPr lang="en-US" sz="2400" dirty="0"/>
          </a:p>
        </p:txBody>
      </p:sp>
      <p:sp>
        <p:nvSpPr>
          <p:cNvPr id="4" name="Idea 1"/>
          <p:cNvSpPr txBox="1"/>
          <p:nvPr/>
        </p:nvSpPr>
        <p:spPr>
          <a:xfrm>
            <a:off x="1371600" y="1668779"/>
            <a:ext cx="3838074" cy="713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400" dirty="0">
                <a:solidFill>
                  <a:schemeClr val="bg1"/>
                </a:solidFill>
              </a:rPr>
              <a:t>Tienda online funcionando y publicada en internet.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Idea 2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8" name="Idea 3"/>
          <p:cNvSpPr txBox="1"/>
          <p:nvPr/>
        </p:nvSpPr>
        <p:spPr>
          <a:xfrm>
            <a:off x="1463040" y="324612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Cierre"/>
          <p:cNvSpPr txBox="1"/>
          <p:nvPr/>
        </p:nvSpPr>
        <p:spPr>
          <a:xfrm>
            <a:off x="685800" y="5669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Gracias.</a:t>
            </a:r>
            <a:endParaRPr lang="en-US" sz="30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8BC139C-8BA4-2F0E-592E-5910DCDD50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299"/>
          <a:stretch>
            <a:fillRect/>
          </a:stretch>
        </p:blipFill>
        <p:spPr>
          <a:xfrm>
            <a:off x="685800" y="826753"/>
            <a:ext cx="10303042" cy="34669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OCTILUZ">
  <a:themeElements>
    <a:clrScheme name="NOCTILUZ">
      <a:dk1>
        <a:srgbClr val="0A0B0F"/>
      </a:dk1>
      <a:lt1>
        <a:srgbClr val="F2F5F8"/>
      </a:lt1>
      <a:dk2>
        <a:srgbClr val="15181E"/>
      </a:dk2>
      <a:lt2>
        <a:srgbClr val="C9D2DC"/>
      </a:lt2>
      <a:accent1>
        <a:srgbClr val="27C8FF"/>
      </a:accent1>
      <a:accent2>
        <a:srgbClr val="B3A6FF"/>
      </a:accent2>
      <a:accent3>
        <a:srgbClr val="1E8CFF"/>
      </a:accent3>
      <a:accent4>
        <a:srgbClr val="8D99A6"/>
      </a:accent4>
      <a:accent5>
        <a:srgbClr val="2B313B"/>
      </a:accent5>
      <a:accent6>
        <a:srgbClr val="5BE0FF"/>
      </a:accent6>
      <a:hlink>
        <a:srgbClr val="27C8FF"/>
      </a:hlink>
      <a:folHlink>
        <a:srgbClr val="27C8FF"/>
      </a:folHlink>
    </a:clrScheme>
    <a:fontScheme name="NOCTILUZ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743</Words>
  <Application>Microsoft Office PowerPoint</Application>
  <PresentationFormat>Panorámica</PresentationFormat>
  <Paragraphs>97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Consolas</vt:lpstr>
      <vt:lpstr>NOCTILUZ</vt:lpstr>
      <vt:lpstr>NOCTILUZ</vt:lpstr>
      <vt:lpstr>1. Caso de empresa, objetivo de la solución y reparto de responsabilidades</vt:lpstr>
      <vt:lpstr>2. Arquitectura general y flujo funcional</vt:lpstr>
      <vt:lpstr>3. Limitaciones, decisiones críticas y uso de IA</vt:lpstr>
      <vt:lpstr>4. Conclusión</vt:lpstr>
    </vt:vector>
  </TitlesOfParts>
  <Company>UCAM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NOCTILUZ · Tarea 1</dc:title>
  <dc:subject>Defensa de la Tarea 1 de Soluciones Informáticas para la Empresa (UCAM)</dc:subject>
  <dc:creator>Luis Galindo Buendia, Roberto Ciller Miñana, Javier Zamora Lopez y JunJie Yang Jao</dc:creator>
  <cp:lastModifiedBy>Roberto Ciller Miñana</cp:lastModifiedBy>
  <cp:revision>5</cp:revision>
  <dcterms:created xsi:type="dcterms:W3CDTF">2026-10-18T20:09:25Z</dcterms:created>
  <dcterms:modified xsi:type="dcterms:W3CDTF">2026-10-18T21:51:05Z</dcterms:modified>
</cp:coreProperties>
</file>